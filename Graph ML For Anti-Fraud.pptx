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262" r:id="rId3"/>
    <p:sldId id="263" r:id="rId4"/>
    <p:sldId id="264" r:id="rId5"/>
    <p:sldId id="265" r:id="rId6"/>
    <p:sldId id="266" r:id="rId7"/>
    <p:sldId id="268" r:id="rId8"/>
    <p:sldId id="269" r:id="rId9"/>
    <p:sldId id="270"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林 杰钦" initials="林" lastIdx="1" clrIdx="0">
    <p:extLst>
      <p:ext uri="{19B8F6BF-5375-455C-9EA6-DF929625EA0E}">
        <p15:presenceInfo xmlns:p15="http://schemas.microsoft.com/office/powerpoint/2012/main" userId="a00bbe383777406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7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7515" autoAdjust="0"/>
  </p:normalViewPr>
  <p:slideViewPr>
    <p:cSldViewPr snapToGrid="0">
      <p:cViewPr varScale="1">
        <p:scale>
          <a:sx n="88" d="100"/>
          <a:sy n="88" d="100"/>
        </p:scale>
        <p:origin x="1434"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EA69FA-D441-4955-900C-24D16AB1D39E}" type="datetimeFigureOut">
              <a:rPr lang="en-US" smtClean="0"/>
              <a:t>9/5/2021</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195A0-C9F8-4078-AD18-E6246CB801D0}" type="slidenum">
              <a:rPr lang="en-US" smtClean="0"/>
              <a:t>‹#›</a:t>
            </a:fld>
            <a:endParaRPr lang="en-US"/>
          </a:p>
        </p:txBody>
      </p:sp>
    </p:spTree>
    <p:extLst>
      <p:ext uri="{BB962C8B-B14F-4D97-AF65-F5344CB8AC3E}">
        <p14:creationId xmlns:p14="http://schemas.microsoft.com/office/powerpoint/2010/main" val="4095704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dirty="0"/>
              <a:t>Graph is a structure composed of nodes and edges.</a:t>
            </a:r>
          </a:p>
          <a:p>
            <a:r>
              <a:rPr lang="en-US" sz="1200" dirty="0"/>
              <a:t>Nodes are usually entities. For example, people, institutions, cells, and commodities can all be used as a node.</a:t>
            </a:r>
          </a:p>
          <a:p>
            <a:r>
              <a:rPr lang="en-US" sz="1200" dirty="0"/>
              <a:t>An edge represents the connection relationship between nodes. For example, in a social network, a person is one of the nodes, and an edge between two nodes indicates that the two people may be friends or share the same article.</a:t>
            </a:r>
          </a:p>
          <a:p>
            <a:r>
              <a:rPr lang="en-US" sz="1200" dirty="0"/>
              <a:t>In the e-commerce system, customers and commodities can be regarded as nodes, and the edges in them usually indicate that a certain customer has purchased a certain commodity.</a:t>
            </a:r>
          </a:p>
          <a:p>
            <a:r>
              <a:rPr lang="en-US" sz="1200" dirty="0"/>
              <a:t>The nodes in the graph can also have characteristics or attributes, such as nodes representing customers, whose attributes are usually age, gender, monthly consumption, etc., and nodes representing commodities, and their attributes are usually commodity types, brands, and prices.</a:t>
            </a:r>
          </a:p>
          <a:p>
            <a:r>
              <a:rPr lang="en-US" sz="1200" dirty="0"/>
              <a:t>From this graph composed of customers and products, we can learn the consumption habits of customers, thereby enhancing the effect of the product recommendation system.</a:t>
            </a:r>
          </a:p>
          <a:p>
            <a:endParaRPr lang="en-US" dirty="0"/>
          </a:p>
        </p:txBody>
      </p:sp>
      <p:sp>
        <p:nvSpPr>
          <p:cNvPr id="4" name="灯片编号占位符 3"/>
          <p:cNvSpPr>
            <a:spLocks noGrp="1"/>
          </p:cNvSpPr>
          <p:nvPr>
            <p:ph type="sldNum" sz="quarter" idx="5"/>
          </p:nvPr>
        </p:nvSpPr>
        <p:spPr/>
        <p:txBody>
          <a:bodyPr/>
          <a:lstStyle/>
          <a:p>
            <a:fld id="{E18195A0-C9F8-4078-AD18-E6246CB801D0}" type="slidenum">
              <a:rPr lang="en-US" smtClean="0"/>
              <a:t>3</a:t>
            </a:fld>
            <a:endParaRPr lang="en-US"/>
          </a:p>
        </p:txBody>
      </p:sp>
    </p:spTree>
    <p:extLst>
      <p:ext uri="{BB962C8B-B14F-4D97-AF65-F5344CB8AC3E}">
        <p14:creationId xmlns:p14="http://schemas.microsoft.com/office/powerpoint/2010/main" val="1512653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dirty="0"/>
              <a:t>Graph is a structure composed of nodes and edges.</a:t>
            </a:r>
          </a:p>
          <a:p>
            <a:r>
              <a:rPr lang="en-US" sz="1200" dirty="0"/>
              <a:t>Nodes are usually entities. For example, people, institutions, cells, and commodities can all be used as a node.</a:t>
            </a:r>
          </a:p>
          <a:p>
            <a:r>
              <a:rPr lang="en-US" sz="1200" dirty="0"/>
              <a:t>An edge represents the connection relationship between nodes. For example, in a social network, a person is one of the nodes, and an edge between two nodes indicates that the two people may be friends or share the same article.</a:t>
            </a:r>
          </a:p>
          <a:p>
            <a:r>
              <a:rPr lang="en-US" sz="1200" dirty="0"/>
              <a:t>In the e-commerce system, customers and commodities can be regarded as nodes, and the edges in them usually indicate that a certain customer has purchased a certain commodity.</a:t>
            </a:r>
          </a:p>
          <a:p>
            <a:r>
              <a:rPr lang="en-US" sz="1200" dirty="0"/>
              <a:t>The nodes in the graph can also have characteristics or attributes, such as nodes representing customers, whose attributes are usually age, gender, monthly consumption, etc., and nodes representing commodities, and their attributes are usually commodity types, brands, and prices.</a:t>
            </a:r>
          </a:p>
          <a:p>
            <a:r>
              <a:rPr lang="en-US" sz="1200" dirty="0"/>
              <a:t>From this graph composed of customers and products, we can learn the consumption habits of customers, thereby enhancing the effect of the product recommendation system.</a:t>
            </a:r>
          </a:p>
          <a:p>
            <a:endParaRPr lang="en-US" dirty="0"/>
          </a:p>
        </p:txBody>
      </p:sp>
      <p:sp>
        <p:nvSpPr>
          <p:cNvPr id="4" name="灯片编号占位符 3"/>
          <p:cNvSpPr>
            <a:spLocks noGrp="1"/>
          </p:cNvSpPr>
          <p:nvPr>
            <p:ph type="sldNum" sz="quarter" idx="5"/>
          </p:nvPr>
        </p:nvSpPr>
        <p:spPr/>
        <p:txBody>
          <a:bodyPr/>
          <a:lstStyle/>
          <a:p>
            <a:fld id="{E18195A0-C9F8-4078-AD18-E6246CB801D0}" type="slidenum">
              <a:rPr lang="en-US" smtClean="0"/>
              <a:t>4</a:t>
            </a:fld>
            <a:endParaRPr lang="en-US"/>
          </a:p>
        </p:txBody>
      </p:sp>
    </p:spTree>
    <p:extLst>
      <p:ext uri="{BB962C8B-B14F-4D97-AF65-F5344CB8AC3E}">
        <p14:creationId xmlns:p14="http://schemas.microsoft.com/office/powerpoint/2010/main" val="679518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dirty="0"/>
              <a:t>Graph is a structure composed of nodes and edges.</a:t>
            </a:r>
          </a:p>
          <a:p>
            <a:r>
              <a:rPr lang="en-US" sz="1200" dirty="0"/>
              <a:t>Nodes are usually entities. For example, people, institutions, cells, and commodities can all be used as a node.</a:t>
            </a:r>
          </a:p>
          <a:p>
            <a:r>
              <a:rPr lang="en-US" sz="1200" dirty="0"/>
              <a:t>An edge represents the connection relationship between nodes. For example, in a social network, a person is one of the nodes, and an edge between two nodes indicates that the two people may be friends or share the same article.</a:t>
            </a:r>
          </a:p>
          <a:p>
            <a:r>
              <a:rPr lang="en-US" sz="1200" dirty="0"/>
              <a:t>In the e-commerce system, customers and commodities can be regarded as nodes, and the edges in them usually indicate that a certain customer has purchased a certain commodity.</a:t>
            </a:r>
          </a:p>
          <a:p>
            <a:r>
              <a:rPr lang="en-US" sz="1200" dirty="0"/>
              <a:t>The nodes in the graph can also have characteristics or attributes, such as nodes representing customers, whose attributes are usually age, gender, monthly consumption, etc., and nodes representing commodities, and their attributes are usually commodity types, brands, and prices.</a:t>
            </a:r>
          </a:p>
          <a:p>
            <a:r>
              <a:rPr lang="en-US" sz="1200" dirty="0"/>
              <a:t>From this graph composed of customers and products, we can learn the consumption habits of customers, thereby enhancing the effect of the product recommendation system.</a:t>
            </a:r>
          </a:p>
          <a:p>
            <a:endParaRPr lang="en-US" dirty="0"/>
          </a:p>
        </p:txBody>
      </p:sp>
      <p:sp>
        <p:nvSpPr>
          <p:cNvPr id="4" name="灯片编号占位符 3"/>
          <p:cNvSpPr>
            <a:spLocks noGrp="1"/>
          </p:cNvSpPr>
          <p:nvPr>
            <p:ph type="sldNum" sz="quarter" idx="5"/>
          </p:nvPr>
        </p:nvSpPr>
        <p:spPr/>
        <p:txBody>
          <a:bodyPr/>
          <a:lstStyle/>
          <a:p>
            <a:fld id="{E18195A0-C9F8-4078-AD18-E6246CB801D0}" type="slidenum">
              <a:rPr lang="en-US" smtClean="0"/>
              <a:t>5</a:t>
            </a:fld>
            <a:endParaRPr lang="en-US"/>
          </a:p>
        </p:txBody>
      </p:sp>
    </p:spTree>
    <p:extLst>
      <p:ext uri="{BB962C8B-B14F-4D97-AF65-F5344CB8AC3E}">
        <p14:creationId xmlns:p14="http://schemas.microsoft.com/office/powerpoint/2010/main" val="164100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18195A0-C9F8-4078-AD18-E6246CB801D0}" type="slidenum">
              <a:rPr lang="en-US" smtClean="0"/>
              <a:t>6</a:t>
            </a:fld>
            <a:endParaRPr lang="en-US"/>
          </a:p>
        </p:txBody>
      </p:sp>
    </p:spTree>
    <p:extLst>
      <p:ext uri="{BB962C8B-B14F-4D97-AF65-F5344CB8AC3E}">
        <p14:creationId xmlns:p14="http://schemas.microsoft.com/office/powerpoint/2010/main" val="2336427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18195A0-C9F8-4078-AD18-E6246CB801D0}" type="slidenum">
              <a:rPr lang="en-US" smtClean="0"/>
              <a:t>7</a:t>
            </a:fld>
            <a:endParaRPr lang="en-US"/>
          </a:p>
        </p:txBody>
      </p:sp>
    </p:spTree>
    <p:extLst>
      <p:ext uri="{BB962C8B-B14F-4D97-AF65-F5344CB8AC3E}">
        <p14:creationId xmlns:p14="http://schemas.microsoft.com/office/powerpoint/2010/main" val="3321929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18195A0-C9F8-4078-AD18-E6246CB801D0}" type="slidenum">
              <a:rPr lang="en-US" smtClean="0"/>
              <a:t>8</a:t>
            </a:fld>
            <a:endParaRPr lang="en-US"/>
          </a:p>
        </p:txBody>
      </p:sp>
    </p:spTree>
    <p:extLst>
      <p:ext uri="{BB962C8B-B14F-4D97-AF65-F5344CB8AC3E}">
        <p14:creationId xmlns:p14="http://schemas.microsoft.com/office/powerpoint/2010/main" val="267652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We prefer to use the neighbor aggregation algorithm, because supervised learning is better for us to grasp the direction of optimization. For example, the following picture has 1 to 8 points, 5 and 6 are marked abnormal points (because graph calculations are all semi-supervised learning, so we also need to make certain markings), and then 1, 2 The point has a multi-hop relationship with them and can be removed. This is a one-step noise reduction. Our running graph algorithm will eventually turn a heterogeneous graph into an isomorphic graph. As shown in the figure above, although this example only reduces 2 nodes, the edges that generate the isomorphic graph may be reduced by half. Through experimental comparison, if only GNN is used to run supervised learning, the AUC is 0.92, which is slightly worse than 0.93 obtained by XGBoost running portrait features, but if the individual Embedding learned by GNN is spliced to the original portrait features, then run XGBoost , AUC will be greatly increased to 0.97, which also shows that network structure features can bring significant gains to the original individual portrait features. </a:t>
            </a:r>
          </a:p>
        </p:txBody>
      </p:sp>
      <p:sp>
        <p:nvSpPr>
          <p:cNvPr id="4" name="灯片编号占位符 3"/>
          <p:cNvSpPr>
            <a:spLocks noGrp="1"/>
          </p:cNvSpPr>
          <p:nvPr>
            <p:ph type="sldNum" sz="quarter" idx="5"/>
          </p:nvPr>
        </p:nvSpPr>
        <p:spPr/>
        <p:txBody>
          <a:bodyPr/>
          <a:lstStyle/>
          <a:p>
            <a:fld id="{E18195A0-C9F8-4078-AD18-E6246CB801D0}" type="slidenum">
              <a:rPr lang="en-US" smtClean="0"/>
              <a:t>9</a:t>
            </a:fld>
            <a:endParaRPr lang="en-US"/>
          </a:p>
        </p:txBody>
      </p:sp>
    </p:spTree>
    <p:extLst>
      <p:ext uri="{BB962C8B-B14F-4D97-AF65-F5344CB8AC3E}">
        <p14:creationId xmlns:p14="http://schemas.microsoft.com/office/powerpoint/2010/main" val="107232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18195A0-C9F8-4078-AD18-E6246CB801D0}" type="slidenum">
              <a:rPr lang="en-US" smtClean="0"/>
              <a:t>10</a:t>
            </a:fld>
            <a:endParaRPr lang="en-US"/>
          </a:p>
        </p:txBody>
      </p:sp>
    </p:spTree>
    <p:extLst>
      <p:ext uri="{BB962C8B-B14F-4D97-AF65-F5344CB8AC3E}">
        <p14:creationId xmlns:p14="http://schemas.microsoft.com/office/powerpoint/2010/main" val="3693784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AAC890-4A01-4F78-83FD-26066E3B92E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63DCF64B-FC99-49AC-BB81-BA9D2F732D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7E40B956-157F-41A4-8B70-541B8E94B118}"/>
              </a:ext>
            </a:extLst>
          </p:cNvPr>
          <p:cNvSpPr>
            <a:spLocks noGrp="1"/>
          </p:cNvSpPr>
          <p:nvPr>
            <p:ph type="dt" sz="half" idx="10"/>
          </p:nvPr>
        </p:nvSpPr>
        <p:spPr/>
        <p:txBody>
          <a:bodyPr/>
          <a:lstStyle/>
          <a:p>
            <a:fld id="{207A4F71-B060-46F3-9121-38DE14B11EA2}" type="datetimeFigureOut">
              <a:rPr lang="en-US" smtClean="0"/>
              <a:t>9/5/2021</a:t>
            </a:fld>
            <a:endParaRPr lang="en-US"/>
          </a:p>
        </p:txBody>
      </p:sp>
      <p:sp>
        <p:nvSpPr>
          <p:cNvPr id="5" name="页脚占位符 4">
            <a:extLst>
              <a:ext uri="{FF2B5EF4-FFF2-40B4-BE49-F238E27FC236}">
                <a16:creationId xmlns:a16="http://schemas.microsoft.com/office/drawing/2014/main" id="{F358EAE8-55DF-4C78-9D01-F5742AA1F82A}"/>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8DF0EC4D-EC4A-4882-9270-3C27007177AD}"/>
              </a:ext>
            </a:extLst>
          </p:cNvPr>
          <p:cNvSpPr>
            <a:spLocks noGrp="1"/>
          </p:cNvSpPr>
          <p:nvPr>
            <p:ph type="sldNum" sz="quarter" idx="12"/>
          </p:nvPr>
        </p:nvSpPr>
        <p:spPr/>
        <p:txBody>
          <a:bodyPr/>
          <a:lstStyle/>
          <a:p>
            <a:fld id="{3C34FC17-C743-438F-BE73-09D166771826}" type="slidenum">
              <a:rPr lang="en-US" smtClean="0"/>
              <a:t>‹#›</a:t>
            </a:fld>
            <a:endParaRPr lang="en-US"/>
          </a:p>
        </p:txBody>
      </p:sp>
    </p:spTree>
    <p:extLst>
      <p:ext uri="{BB962C8B-B14F-4D97-AF65-F5344CB8AC3E}">
        <p14:creationId xmlns:p14="http://schemas.microsoft.com/office/powerpoint/2010/main" val="3153446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311AE8-433B-4B8B-896C-24D42DC99899}"/>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CF103510-363F-40A3-800A-5E4BABD4DE3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AB3D1121-5654-4525-9F21-B7BC73A143D8}"/>
              </a:ext>
            </a:extLst>
          </p:cNvPr>
          <p:cNvSpPr>
            <a:spLocks noGrp="1"/>
          </p:cNvSpPr>
          <p:nvPr>
            <p:ph type="dt" sz="half" idx="10"/>
          </p:nvPr>
        </p:nvSpPr>
        <p:spPr/>
        <p:txBody>
          <a:bodyPr/>
          <a:lstStyle/>
          <a:p>
            <a:fld id="{207A4F71-B060-46F3-9121-38DE14B11EA2}" type="datetimeFigureOut">
              <a:rPr lang="en-US" smtClean="0"/>
              <a:t>9/5/2021</a:t>
            </a:fld>
            <a:endParaRPr lang="en-US"/>
          </a:p>
        </p:txBody>
      </p:sp>
      <p:sp>
        <p:nvSpPr>
          <p:cNvPr id="5" name="页脚占位符 4">
            <a:extLst>
              <a:ext uri="{FF2B5EF4-FFF2-40B4-BE49-F238E27FC236}">
                <a16:creationId xmlns:a16="http://schemas.microsoft.com/office/drawing/2014/main" id="{484E46B6-2471-4863-82C6-74366AC4F9A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6C54036A-2CFD-4AC1-86C2-64AE91E08823}"/>
              </a:ext>
            </a:extLst>
          </p:cNvPr>
          <p:cNvSpPr>
            <a:spLocks noGrp="1"/>
          </p:cNvSpPr>
          <p:nvPr>
            <p:ph type="sldNum" sz="quarter" idx="12"/>
          </p:nvPr>
        </p:nvSpPr>
        <p:spPr/>
        <p:txBody>
          <a:bodyPr/>
          <a:lstStyle/>
          <a:p>
            <a:fld id="{3C34FC17-C743-438F-BE73-09D166771826}" type="slidenum">
              <a:rPr lang="en-US" smtClean="0"/>
              <a:t>‹#›</a:t>
            </a:fld>
            <a:endParaRPr lang="en-US"/>
          </a:p>
        </p:txBody>
      </p:sp>
    </p:spTree>
    <p:extLst>
      <p:ext uri="{BB962C8B-B14F-4D97-AF65-F5344CB8AC3E}">
        <p14:creationId xmlns:p14="http://schemas.microsoft.com/office/powerpoint/2010/main" val="3308623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5E408C-66F3-4AB9-81F2-DE6A560EECF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7A0DBE09-D709-4E41-A9ED-E57BAFFFDA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35D8BA8-A90F-45B8-B18F-18C55DCF07A4}"/>
              </a:ext>
            </a:extLst>
          </p:cNvPr>
          <p:cNvSpPr>
            <a:spLocks noGrp="1"/>
          </p:cNvSpPr>
          <p:nvPr>
            <p:ph type="dt" sz="half" idx="10"/>
          </p:nvPr>
        </p:nvSpPr>
        <p:spPr/>
        <p:txBody>
          <a:bodyPr/>
          <a:lstStyle/>
          <a:p>
            <a:fld id="{207A4F71-B060-46F3-9121-38DE14B11EA2}" type="datetimeFigureOut">
              <a:rPr lang="en-US" smtClean="0"/>
              <a:t>9/5/2021</a:t>
            </a:fld>
            <a:endParaRPr lang="en-US"/>
          </a:p>
        </p:txBody>
      </p:sp>
      <p:sp>
        <p:nvSpPr>
          <p:cNvPr id="5" name="页脚占位符 4">
            <a:extLst>
              <a:ext uri="{FF2B5EF4-FFF2-40B4-BE49-F238E27FC236}">
                <a16:creationId xmlns:a16="http://schemas.microsoft.com/office/drawing/2014/main" id="{F651D21E-9115-444A-9CFB-04D12499ABA8}"/>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E35DB27B-27E5-475C-9F43-F1B833BF2D6D}"/>
              </a:ext>
            </a:extLst>
          </p:cNvPr>
          <p:cNvSpPr>
            <a:spLocks noGrp="1"/>
          </p:cNvSpPr>
          <p:nvPr>
            <p:ph type="sldNum" sz="quarter" idx="12"/>
          </p:nvPr>
        </p:nvSpPr>
        <p:spPr/>
        <p:txBody>
          <a:bodyPr/>
          <a:lstStyle/>
          <a:p>
            <a:fld id="{3C34FC17-C743-438F-BE73-09D166771826}" type="slidenum">
              <a:rPr lang="en-US" smtClean="0"/>
              <a:t>‹#›</a:t>
            </a:fld>
            <a:endParaRPr lang="en-US"/>
          </a:p>
        </p:txBody>
      </p:sp>
    </p:spTree>
    <p:extLst>
      <p:ext uri="{BB962C8B-B14F-4D97-AF65-F5344CB8AC3E}">
        <p14:creationId xmlns:p14="http://schemas.microsoft.com/office/powerpoint/2010/main" val="1609123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E78B8C-B4D2-45B7-A016-663B9975495B}"/>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7FE5F2E1-6382-461F-96F9-5545B82C121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a:extLst>
              <a:ext uri="{FF2B5EF4-FFF2-40B4-BE49-F238E27FC236}">
                <a16:creationId xmlns:a16="http://schemas.microsoft.com/office/drawing/2014/main" id="{F775EED1-1B85-4AF4-9684-31FD006DAD2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AD313D6A-50A5-4080-9E8F-AEB60B3D6FD0}"/>
              </a:ext>
            </a:extLst>
          </p:cNvPr>
          <p:cNvSpPr>
            <a:spLocks noGrp="1"/>
          </p:cNvSpPr>
          <p:nvPr>
            <p:ph type="dt" sz="half" idx="10"/>
          </p:nvPr>
        </p:nvSpPr>
        <p:spPr/>
        <p:txBody>
          <a:bodyPr/>
          <a:lstStyle/>
          <a:p>
            <a:fld id="{207A4F71-B060-46F3-9121-38DE14B11EA2}" type="datetimeFigureOut">
              <a:rPr lang="en-US" smtClean="0"/>
              <a:t>9/5/2021</a:t>
            </a:fld>
            <a:endParaRPr lang="en-US"/>
          </a:p>
        </p:txBody>
      </p:sp>
      <p:sp>
        <p:nvSpPr>
          <p:cNvPr id="6" name="页脚占位符 5">
            <a:extLst>
              <a:ext uri="{FF2B5EF4-FFF2-40B4-BE49-F238E27FC236}">
                <a16:creationId xmlns:a16="http://schemas.microsoft.com/office/drawing/2014/main" id="{BCB9535C-1307-4DA5-8EEC-DFA7836ACD8B}"/>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10CD1B0C-3721-4D49-B2E7-A59E78B4A44B}"/>
              </a:ext>
            </a:extLst>
          </p:cNvPr>
          <p:cNvSpPr>
            <a:spLocks noGrp="1"/>
          </p:cNvSpPr>
          <p:nvPr>
            <p:ph type="sldNum" sz="quarter" idx="12"/>
          </p:nvPr>
        </p:nvSpPr>
        <p:spPr/>
        <p:txBody>
          <a:bodyPr/>
          <a:lstStyle/>
          <a:p>
            <a:fld id="{3C34FC17-C743-438F-BE73-09D166771826}" type="slidenum">
              <a:rPr lang="en-US" smtClean="0"/>
              <a:t>‹#›</a:t>
            </a:fld>
            <a:endParaRPr lang="en-US"/>
          </a:p>
        </p:txBody>
      </p:sp>
    </p:spTree>
    <p:extLst>
      <p:ext uri="{BB962C8B-B14F-4D97-AF65-F5344CB8AC3E}">
        <p14:creationId xmlns:p14="http://schemas.microsoft.com/office/powerpoint/2010/main" val="541197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A9FC80-3FE7-42A5-B93D-3841B6DB2756}"/>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F7BF5A71-3076-4D1D-8E21-7B73585E12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A781550-CBCC-42FA-9CA6-AAFF48B743C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a:extLst>
              <a:ext uri="{FF2B5EF4-FFF2-40B4-BE49-F238E27FC236}">
                <a16:creationId xmlns:a16="http://schemas.microsoft.com/office/drawing/2014/main" id="{3A68E42F-6F92-4D51-917D-941D57365B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E17B8FD-727C-494B-AC62-7F8750D1D4C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0654F858-89FE-4EAE-96F4-9EDC3DF0D4F5}"/>
              </a:ext>
            </a:extLst>
          </p:cNvPr>
          <p:cNvSpPr>
            <a:spLocks noGrp="1"/>
          </p:cNvSpPr>
          <p:nvPr>
            <p:ph type="dt" sz="half" idx="10"/>
          </p:nvPr>
        </p:nvSpPr>
        <p:spPr/>
        <p:txBody>
          <a:bodyPr/>
          <a:lstStyle/>
          <a:p>
            <a:fld id="{207A4F71-B060-46F3-9121-38DE14B11EA2}" type="datetimeFigureOut">
              <a:rPr lang="en-US" smtClean="0"/>
              <a:t>9/5/2021</a:t>
            </a:fld>
            <a:endParaRPr lang="en-US"/>
          </a:p>
        </p:txBody>
      </p:sp>
      <p:sp>
        <p:nvSpPr>
          <p:cNvPr id="8" name="页脚占位符 7">
            <a:extLst>
              <a:ext uri="{FF2B5EF4-FFF2-40B4-BE49-F238E27FC236}">
                <a16:creationId xmlns:a16="http://schemas.microsoft.com/office/drawing/2014/main" id="{F99DDC39-2892-419E-863A-356E37922604}"/>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3687ADF4-22EB-4B1B-8D09-1BC4C34C67DF}"/>
              </a:ext>
            </a:extLst>
          </p:cNvPr>
          <p:cNvSpPr>
            <a:spLocks noGrp="1"/>
          </p:cNvSpPr>
          <p:nvPr>
            <p:ph type="sldNum" sz="quarter" idx="12"/>
          </p:nvPr>
        </p:nvSpPr>
        <p:spPr/>
        <p:txBody>
          <a:bodyPr/>
          <a:lstStyle/>
          <a:p>
            <a:fld id="{3C34FC17-C743-438F-BE73-09D166771826}" type="slidenum">
              <a:rPr lang="en-US" smtClean="0"/>
              <a:t>‹#›</a:t>
            </a:fld>
            <a:endParaRPr lang="en-US"/>
          </a:p>
        </p:txBody>
      </p:sp>
    </p:spTree>
    <p:extLst>
      <p:ext uri="{BB962C8B-B14F-4D97-AF65-F5344CB8AC3E}">
        <p14:creationId xmlns:p14="http://schemas.microsoft.com/office/powerpoint/2010/main" val="905883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3F3685-BC60-40C8-A83B-881C8E36B738}"/>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BC4EEB5F-ED43-41EA-AAE3-045EE3680236}"/>
              </a:ext>
            </a:extLst>
          </p:cNvPr>
          <p:cNvSpPr>
            <a:spLocks noGrp="1"/>
          </p:cNvSpPr>
          <p:nvPr>
            <p:ph type="dt" sz="half" idx="10"/>
          </p:nvPr>
        </p:nvSpPr>
        <p:spPr/>
        <p:txBody>
          <a:bodyPr/>
          <a:lstStyle/>
          <a:p>
            <a:fld id="{207A4F71-B060-46F3-9121-38DE14B11EA2}" type="datetimeFigureOut">
              <a:rPr lang="en-US" smtClean="0"/>
              <a:t>9/5/2021</a:t>
            </a:fld>
            <a:endParaRPr lang="en-US"/>
          </a:p>
        </p:txBody>
      </p:sp>
      <p:sp>
        <p:nvSpPr>
          <p:cNvPr id="4" name="页脚占位符 3">
            <a:extLst>
              <a:ext uri="{FF2B5EF4-FFF2-40B4-BE49-F238E27FC236}">
                <a16:creationId xmlns:a16="http://schemas.microsoft.com/office/drawing/2014/main" id="{167CFFDA-B7EB-4E71-BBD2-F2E7623B8C8E}"/>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EBB0B123-9E57-4185-ADB6-4673B30D6702}"/>
              </a:ext>
            </a:extLst>
          </p:cNvPr>
          <p:cNvSpPr>
            <a:spLocks noGrp="1"/>
          </p:cNvSpPr>
          <p:nvPr>
            <p:ph type="sldNum" sz="quarter" idx="12"/>
          </p:nvPr>
        </p:nvSpPr>
        <p:spPr/>
        <p:txBody>
          <a:bodyPr/>
          <a:lstStyle/>
          <a:p>
            <a:fld id="{3C34FC17-C743-438F-BE73-09D166771826}" type="slidenum">
              <a:rPr lang="en-US" smtClean="0"/>
              <a:t>‹#›</a:t>
            </a:fld>
            <a:endParaRPr lang="en-US"/>
          </a:p>
        </p:txBody>
      </p:sp>
    </p:spTree>
    <p:extLst>
      <p:ext uri="{BB962C8B-B14F-4D97-AF65-F5344CB8AC3E}">
        <p14:creationId xmlns:p14="http://schemas.microsoft.com/office/powerpoint/2010/main" val="1775105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ED9DDDE-1882-4A36-A3CD-F9709139707A}"/>
              </a:ext>
            </a:extLst>
          </p:cNvPr>
          <p:cNvSpPr>
            <a:spLocks noGrp="1"/>
          </p:cNvSpPr>
          <p:nvPr>
            <p:ph type="dt" sz="half" idx="10"/>
          </p:nvPr>
        </p:nvSpPr>
        <p:spPr/>
        <p:txBody>
          <a:bodyPr/>
          <a:lstStyle/>
          <a:p>
            <a:fld id="{207A4F71-B060-46F3-9121-38DE14B11EA2}" type="datetimeFigureOut">
              <a:rPr lang="en-US" smtClean="0"/>
              <a:t>9/5/2021</a:t>
            </a:fld>
            <a:endParaRPr lang="en-US"/>
          </a:p>
        </p:txBody>
      </p:sp>
      <p:sp>
        <p:nvSpPr>
          <p:cNvPr id="3" name="页脚占位符 2">
            <a:extLst>
              <a:ext uri="{FF2B5EF4-FFF2-40B4-BE49-F238E27FC236}">
                <a16:creationId xmlns:a16="http://schemas.microsoft.com/office/drawing/2014/main" id="{17F2A3C1-07BB-4647-A2C0-635D275B0258}"/>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DF365BF1-D66A-430B-AD28-9CCC60A08D22}"/>
              </a:ext>
            </a:extLst>
          </p:cNvPr>
          <p:cNvSpPr>
            <a:spLocks noGrp="1"/>
          </p:cNvSpPr>
          <p:nvPr>
            <p:ph type="sldNum" sz="quarter" idx="12"/>
          </p:nvPr>
        </p:nvSpPr>
        <p:spPr/>
        <p:txBody>
          <a:bodyPr/>
          <a:lstStyle/>
          <a:p>
            <a:fld id="{3C34FC17-C743-438F-BE73-09D166771826}" type="slidenum">
              <a:rPr lang="en-US" smtClean="0"/>
              <a:t>‹#›</a:t>
            </a:fld>
            <a:endParaRPr lang="en-US"/>
          </a:p>
        </p:txBody>
      </p:sp>
    </p:spTree>
    <p:extLst>
      <p:ext uri="{BB962C8B-B14F-4D97-AF65-F5344CB8AC3E}">
        <p14:creationId xmlns:p14="http://schemas.microsoft.com/office/powerpoint/2010/main" val="543562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F7013-B78F-4BB8-B51D-4FBF0E000E4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F539F4BA-647D-41D0-856B-CE3E78E903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a:extLst>
              <a:ext uri="{FF2B5EF4-FFF2-40B4-BE49-F238E27FC236}">
                <a16:creationId xmlns:a16="http://schemas.microsoft.com/office/drawing/2014/main" id="{A735A1FC-A558-4BF3-A0F4-0D40A694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57D6A9E-27DC-4FF6-84F5-C99B822734C5}"/>
              </a:ext>
            </a:extLst>
          </p:cNvPr>
          <p:cNvSpPr>
            <a:spLocks noGrp="1"/>
          </p:cNvSpPr>
          <p:nvPr>
            <p:ph type="dt" sz="half" idx="10"/>
          </p:nvPr>
        </p:nvSpPr>
        <p:spPr/>
        <p:txBody>
          <a:bodyPr/>
          <a:lstStyle/>
          <a:p>
            <a:fld id="{207A4F71-B060-46F3-9121-38DE14B11EA2}" type="datetimeFigureOut">
              <a:rPr lang="en-US" smtClean="0"/>
              <a:t>9/5/2021</a:t>
            </a:fld>
            <a:endParaRPr lang="en-US"/>
          </a:p>
        </p:txBody>
      </p:sp>
      <p:sp>
        <p:nvSpPr>
          <p:cNvPr id="6" name="页脚占位符 5">
            <a:extLst>
              <a:ext uri="{FF2B5EF4-FFF2-40B4-BE49-F238E27FC236}">
                <a16:creationId xmlns:a16="http://schemas.microsoft.com/office/drawing/2014/main" id="{A2FAB3EE-EA64-43BB-955D-D06D57177CAE}"/>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ADA840D8-A592-4FCC-88B5-472B761B325A}"/>
              </a:ext>
            </a:extLst>
          </p:cNvPr>
          <p:cNvSpPr>
            <a:spLocks noGrp="1"/>
          </p:cNvSpPr>
          <p:nvPr>
            <p:ph type="sldNum" sz="quarter" idx="12"/>
          </p:nvPr>
        </p:nvSpPr>
        <p:spPr/>
        <p:txBody>
          <a:bodyPr/>
          <a:lstStyle/>
          <a:p>
            <a:fld id="{3C34FC17-C743-438F-BE73-09D166771826}" type="slidenum">
              <a:rPr lang="en-US" smtClean="0"/>
              <a:t>‹#›</a:t>
            </a:fld>
            <a:endParaRPr lang="en-US"/>
          </a:p>
        </p:txBody>
      </p:sp>
    </p:spTree>
    <p:extLst>
      <p:ext uri="{BB962C8B-B14F-4D97-AF65-F5344CB8AC3E}">
        <p14:creationId xmlns:p14="http://schemas.microsoft.com/office/powerpoint/2010/main" val="1466366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5D8922-B8D2-4D58-ADAF-C45095314C8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8E461D39-5AB7-4D16-985D-85D956BD44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73342767-4E8B-4547-9753-2A95A4921F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112349A-C523-4C5E-A64D-4BB470388DF0}"/>
              </a:ext>
            </a:extLst>
          </p:cNvPr>
          <p:cNvSpPr>
            <a:spLocks noGrp="1"/>
          </p:cNvSpPr>
          <p:nvPr>
            <p:ph type="dt" sz="half" idx="10"/>
          </p:nvPr>
        </p:nvSpPr>
        <p:spPr/>
        <p:txBody>
          <a:bodyPr/>
          <a:lstStyle/>
          <a:p>
            <a:fld id="{207A4F71-B060-46F3-9121-38DE14B11EA2}" type="datetimeFigureOut">
              <a:rPr lang="en-US" smtClean="0"/>
              <a:t>9/5/2021</a:t>
            </a:fld>
            <a:endParaRPr lang="en-US"/>
          </a:p>
        </p:txBody>
      </p:sp>
      <p:sp>
        <p:nvSpPr>
          <p:cNvPr id="6" name="页脚占位符 5">
            <a:extLst>
              <a:ext uri="{FF2B5EF4-FFF2-40B4-BE49-F238E27FC236}">
                <a16:creationId xmlns:a16="http://schemas.microsoft.com/office/drawing/2014/main" id="{4BB3B95E-0CE0-4E80-AC3F-19537936CF00}"/>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43B56C2C-54DB-4E98-ADE1-C35C40710ECD}"/>
              </a:ext>
            </a:extLst>
          </p:cNvPr>
          <p:cNvSpPr>
            <a:spLocks noGrp="1"/>
          </p:cNvSpPr>
          <p:nvPr>
            <p:ph type="sldNum" sz="quarter" idx="12"/>
          </p:nvPr>
        </p:nvSpPr>
        <p:spPr/>
        <p:txBody>
          <a:bodyPr/>
          <a:lstStyle/>
          <a:p>
            <a:fld id="{3C34FC17-C743-438F-BE73-09D166771826}" type="slidenum">
              <a:rPr lang="en-US" smtClean="0"/>
              <a:t>‹#›</a:t>
            </a:fld>
            <a:endParaRPr lang="en-US"/>
          </a:p>
        </p:txBody>
      </p:sp>
    </p:spTree>
    <p:extLst>
      <p:ext uri="{BB962C8B-B14F-4D97-AF65-F5344CB8AC3E}">
        <p14:creationId xmlns:p14="http://schemas.microsoft.com/office/powerpoint/2010/main" val="601760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7A8FF6-D330-48BD-B0AB-858A81601EC2}"/>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BD464B01-7F48-42ED-B33E-938B2C8747E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693A2769-33C7-400B-88C9-D2D819130A08}"/>
              </a:ext>
            </a:extLst>
          </p:cNvPr>
          <p:cNvSpPr>
            <a:spLocks noGrp="1"/>
          </p:cNvSpPr>
          <p:nvPr>
            <p:ph type="dt" sz="half" idx="10"/>
          </p:nvPr>
        </p:nvSpPr>
        <p:spPr/>
        <p:txBody>
          <a:bodyPr/>
          <a:lstStyle/>
          <a:p>
            <a:fld id="{207A4F71-B060-46F3-9121-38DE14B11EA2}" type="datetimeFigureOut">
              <a:rPr lang="en-US" smtClean="0"/>
              <a:t>9/5/2021</a:t>
            </a:fld>
            <a:endParaRPr lang="en-US"/>
          </a:p>
        </p:txBody>
      </p:sp>
      <p:sp>
        <p:nvSpPr>
          <p:cNvPr id="5" name="页脚占位符 4">
            <a:extLst>
              <a:ext uri="{FF2B5EF4-FFF2-40B4-BE49-F238E27FC236}">
                <a16:creationId xmlns:a16="http://schemas.microsoft.com/office/drawing/2014/main" id="{F753785D-975A-47FB-AFAF-2E818ED59E09}"/>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B30CDD6F-1523-4D2B-A464-3EB7B2C81D15}"/>
              </a:ext>
            </a:extLst>
          </p:cNvPr>
          <p:cNvSpPr>
            <a:spLocks noGrp="1"/>
          </p:cNvSpPr>
          <p:nvPr>
            <p:ph type="sldNum" sz="quarter" idx="12"/>
          </p:nvPr>
        </p:nvSpPr>
        <p:spPr/>
        <p:txBody>
          <a:bodyPr/>
          <a:lstStyle/>
          <a:p>
            <a:fld id="{3C34FC17-C743-438F-BE73-09D166771826}" type="slidenum">
              <a:rPr lang="en-US" smtClean="0"/>
              <a:t>‹#›</a:t>
            </a:fld>
            <a:endParaRPr lang="en-US"/>
          </a:p>
        </p:txBody>
      </p:sp>
    </p:spTree>
    <p:extLst>
      <p:ext uri="{BB962C8B-B14F-4D97-AF65-F5344CB8AC3E}">
        <p14:creationId xmlns:p14="http://schemas.microsoft.com/office/powerpoint/2010/main" val="1776952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D0E17D6-FAA7-429E-BD53-B736DE4188B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1FD7E490-73C6-4167-9C2D-271F24CBD7D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AE7002AD-C5B4-41FA-A17B-F37268DC301D}"/>
              </a:ext>
            </a:extLst>
          </p:cNvPr>
          <p:cNvSpPr>
            <a:spLocks noGrp="1"/>
          </p:cNvSpPr>
          <p:nvPr>
            <p:ph type="dt" sz="half" idx="10"/>
          </p:nvPr>
        </p:nvSpPr>
        <p:spPr/>
        <p:txBody>
          <a:bodyPr/>
          <a:lstStyle/>
          <a:p>
            <a:fld id="{207A4F71-B060-46F3-9121-38DE14B11EA2}" type="datetimeFigureOut">
              <a:rPr lang="en-US" smtClean="0"/>
              <a:t>9/5/2021</a:t>
            </a:fld>
            <a:endParaRPr lang="en-US"/>
          </a:p>
        </p:txBody>
      </p:sp>
      <p:sp>
        <p:nvSpPr>
          <p:cNvPr id="5" name="页脚占位符 4">
            <a:extLst>
              <a:ext uri="{FF2B5EF4-FFF2-40B4-BE49-F238E27FC236}">
                <a16:creationId xmlns:a16="http://schemas.microsoft.com/office/drawing/2014/main" id="{77D234A7-9F92-41C9-A86E-5CB05CD711F5}"/>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A0214285-5E6B-4333-8F7A-7EA15D7C391E}"/>
              </a:ext>
            </a:extLst>
          </p:cNvPr>
          <p:cNvSpPr>
            <a:spLocks noGrp="1"/>
          </p:cNvSpPr>
          <p:nvPr>
            <p:ph type="sldNum" sz="quarter" idx="12"/>
          </p:nvPr>
        </p:nvSpPr>
        <p:spPr/>
        <p:txBody>
          <a:bodyPr/>
          <a:lstStyle/>
          <a:p>
            <a:fld id="{3C34FC17-C743-438F-BE73-09D166771826}" type="slidenum">
              <a:rPr lang="en-US" smtClean="0"/>
              <a:t>‹#›</a:t>
            </a:fld>
            <a:endParaRPr lang="en-US"/>
          </a:p>
        </p:txBody>
      </p:sp>
    </p:spTree>
    <p:extLst>
      <p:ext uri="{BB962C8B-B14F-4D97-AF65-F5344CB8AC3E}">
        <p14:creationId xmlns:p14="http://schemas.microsoft.com/office/powerpoint/2010/main" val="982460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F574819-FA13-421C-A672-CF43040C4B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2892096B-DF09-454D-A185-6FA9C325E9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7CA91897-E147-47FD-8AF7-6B71B4E097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7A4F71-B060-46F3-9121-38DE14B11EA2}" type="datetimeFigureOut">
              <a:rPr lang="en-US" smtClean="0"/>
              <a:t>9/5/2021</a:t>
            </a:fld>
            <a:endParaRPr lang="en-US"/>
          </a:p>
        </p:txBody>
      </p:sp>
      <p:sp>
        <p:nvSpPr>
          <p:cNvPr id="5" name="页脚占位符 4">
            <a:extLst>
              <a:ext uri="{FF2B5EF4-FFF2-40B4-BE49-F238E27FC236}">
                <a16:creationId xmlns:a16="http://schemas.microsoft.com/office/drawing/2014/main" id="{D82BA910-D12F-4BD8-ADF9-8483AD5ACD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5920ABFE-B945-4352-8759-C86722BF62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34FC17-C743-438F-BE73-09D166771826}" type="slidenum">
              <a:rPr lang="en-US" smtClean="0"/>
              <a:t>‹#›</a:t>
            </a:fld>
            <a:endParaRPr lang="en-US"/>
          </a:p>
        </p:txBody>
      </p:sp>
    </p:spTree>
    <p:extLst>
      <p:ext uri="{BB962C8B-B14F-4D97-AF65-F5344CB8AC3E}">
        <p14:creationId xmlns:p14="http://schemas.microsoft.com/office/powerpoint/2010/main" val="3749969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tmp"/><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tmp"/></Relationships>
</file>

<file path=ppt/slides/_rels/slide9.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EA57C38-29F9-4F0F-ABCE-EA26253E67CD}"/>
              </a:ext>
            </a:extLst>
          </p:cNvPr>
          <p:cNvSpPr txBox="1"/>
          <p:nvPr/>
        </p:nvSpPr>
        <p:spPr>
          <a:xfrm>
            <a:off x="812800" y="720436"/>
            <a:ext cx="8376024" cy="1015663"/>
          </a:xfrm>
          <a:prstGeom prst="rect">
            <a:avLst/>
          </a:prstGeom>
          <a:noFill/>
        </p:spPr>
        <p:txBody>
          <a:bodyPr wrap="square" rtlCol="0">
            <a:spAutoFit/>
          </a:bodyPr>
          <a:lstStyle/>
          <a:p>
            <a:r>
              <a:rPr lang="en-US" altLang="zh-CN" sz="6000" dirty="0">
                <a:solidFill>
                  <a:schemeClr val="bg1"/>
                </a:solidFill>
              </a:rPr>
              <a:t>Graph ML For Anti-Fraud</a:t>
            </a:r>
            <a:endParaRPr lang="en-US" sz="6000" dirty="0">
              <a:solidFill>
                <a:schemeClr val="bg1"/>
              </a:solidFill>
            </a:endParaRPr>
          </a:p>
        </p:txBody>
      </p:sp>
      <p:sp>
        <p:nvSpPr>
          <p:cNvPr id="3" name="文本框 2">
            <a:extLst>
              <a:ext uri="{FF2B5EF4-FFF2-40B4-BE49-F238E27FC236}">
                <a16:creationId xmlns:a16="http://schemas.microsoft.com/office/drawing/2014/main" id="{CA133010-52F2-4766-ADED-427D8BCB9E57}"/>
              </a:ext>
            </a:extLst>
          </p:cNvPr>
          <p:cNvSpPr txBox="1"/>
          <p:nvPr/>
        </p:nvSpPr>
        <p:spPr>
          <a:xfrm>
            <a:off x="812800" y="5592619"/>
            <a:ext cx="2814681" cy="707886"/>
          </a:xfrm>
          <a:prstGeom prst="rect">
            <a:avLst/>
          </a:prstGeom>
          <a:noFill/>
        </p:spPr>
        <p:txBody>
          <a:bodyPr wrap="none" rtlCol="0">
            <a:spAutoFit/>
          </a:bodyPr>
          <a:lstStyle/>
          <a:p>
            <a:r>
              <a:rPr lang="en-US" sz="2000" dirty="0">
                <a:solidFill>
                  <a:schemeClr val="bg1"/>
                </a:solidFill>
              </a:rPr>
              <a:t>Nelson LIN</a:t>
            </a:r>
          </a:p>
          <a:p>
            <a:r>
              <a:rPr lang="en-US" sz="2000" dirty="0">
                <a:solidFill>
                  <a:schemeClr val="bg1"/>
                </a:solidFill>
              </a:rPr>
              <a:t>Fraud Operations Analyst</a:t>
            </a:r>
          </a:p>
        </p:txBody>
      </p:sp>
    </p:spTree>
    <p:extLst>
      <p:ext uri="{BB962C8B-B14F-4D97-AF65-F5344CB8AC3E}">
        <p14:creationId xmlns:p14="http://schemas.microsoft.com/office/powerpoint/2010/main" val="1355201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E00B79B-5398-444F-B031-422338053843}"/>
              </a:ext>
            </a:extLst>
          </p:cNvPr>
          <p:cNvSpPr txBox="1"/>
          <p:nvPr/>
        </p:nvSpPr>
        <p:spPr>
          <a:xfrm>
            <a:off x="812800" y="822036"/>
            <a:ext cx="4539063" cy="1015663"/>
          </a:xfrm>
          <a:prstGeom prst="rect">
            <a:avLst/>
          </a:prstGeom>
          <a:noFill/>
        </p:spPr>
        <p:txBody>
          <a:bodyPr wrap="none" rtlCol="0">
            <a:spAutoFit/>
          </a:bodyPr>
          <a:lstStyle/>
          <a:p>
            <a:r>
              <a:rPr lang="en-US" sz="6000" dirty="0">
                <a:solidFill>
                  <a:schemeClr val="bg1"/>
                </a:solidFill>
              </a:rPr>
              <a:t>NLP Overview</a:t>
            </a:r>
          </a:p>
        </p:txBody>
      </p:sp>
      <p:sp>
        <p:nvSpPr>
          <p:cNvPr id="3" name="文本框 2">
            <a:extLst>
              <a:ext uri="{FF2B5EF4-FFF2-40B4-BE49-F238E27FC236}">
                <a16:creationId xmlns:a16="http://schemas.microsoft.com/office/drawing/2014/main" id="{E43CB8E3-028A-4C35-BBFD-F57B834530BA}"/>
              </a:ext>
            </a:extLst>
          </p:cNvPr>
          <p:cNvSpPr txBox="1"/>
          <p:nvPr/>
        </p:nvSpPr>
        <p:spPr>
          <a:xfrm>
            <a:off x="3740727" y="2983345"/>
            <a:ext cx="184731" cy="369332"/>
          </a:xfrm>
          <a:prstGeom prst="rect">
            <a:avLst/>
          </a:prstGeom>
          <a:noFill/>
        </p:spPr>
        <p:txBody>
          <a:bodyPr wrap="none" rtlCol="0">
            <a:spAutoFit/>
          </a:bodyPr>
          <a:lstStyle/>
          <a:p>
            <a:endParaRPr lang="en-US" dirty="0"/>
          </a:p>
        </p:txBody>
      </p:sp>
      <p:sp>
        <p:nvSpPr>
          <p:cNvPr id="4" name="文本框 3">
            <a:extLst>
              <a:ext uri="{FF2B5EF4-FFF2-40B4-BE49-F238E27FC236}">
                <a16:creationId xmlns:a16="http://schemas.microsoft.com/office/drawing/2014/main" id="{10071C29-9512-4BBC-AD03-1BB04FDBBEC7}"/>
              </a:ext>
            </a:extLst>
          </p:cNvPr>
          <p:cNvSpPr txBox="1"/>
          <p:nvPr/>
        </p:nvSpPr>
        <p:spPr>
          <a:xfrm>
            <a:off x="452387" y="498870"/>
            <a:ext cx="5823284" cy="646331"/>
          </a:xfrm>
          <a:prstGeom prst="rect">
            <a:avLst/>
          </a:prstGeom>
          <a:noFill/>
        </p:spPr>
        <p:txBody>
          <a:bodyPr wrap="square" rtlCol="0">
            <a:spAutoFit/>
          </a:bodyPr>
          <a:lstStyle/>
          <a:p>
            <a:r>
              <a:rPr lang="en-US" sz="3600" dirty="0">
                <a:solidFill>
                  <a:srgbClr val="004785"/>
                </a:solidFill>
              </a:rPr>
              <a:t>Graph ML For Anti-Fraud</a:t>
            </a:r>
          </a:p>
        </p:txBody>
      </p:sp>
      <p:sp>
        <p:nvSpPr>
          <p:cNvPr id="5" name="文本框 4">
            <a:extLst>
              <a:ext uri="{FF2B5EF4-FFF2-40B4-BE49-F238E27FC236}">
                <a16:creationId xmlns:a16="http://schemas.microsoft.com/office/drawing/2014/main" id="{FE1AC1C3-5804-40AC-92CF-98AC4A4E5D6B}"/>
              </a:ext>
            </a:extLst>
          </p:cNvPr>
          <p:cNvSpPr txBox="1"/>
          <p:nvPr/>
        </p:nvSpPr>
        <p:spPr>
          <a:xfrm>
            <a:off x="403166" y="1468368"/>
            <a:ext cx="7397809" cy="4893647"/>
          </a:xfrm>
          <a:prstGeom prst="rect">
            <a:avLst/>
          </a:prstGeom>
          <a:noFill/>
        </p:spPr>
        <p:txBody>
          <a:bodyPr wrap="square" rtlCol="0">
            <a:spAutoFit/>
          </a:bodyPr>
          <a:lstStyle/>
          <a:p>
            <a:pPr marL="285750" indent="-285750">
              <a:buFont typeface="Arial" panose="020B0604020202020204" pitchFamily="34" charset="0"/>
              <a:buChar char="•"/>
            </a:pPr>
            <a:r>
              <a:rPr lang="en-US" sz="2400" b="1" dirty="0"/>
              <a:t>Graph Definition</a:t>
            </a:r>
          </a:p>
          <a:p>
            <a:pPr marL="285750" indent="-285750">
              <a:buFont typeface="Arial" panose="020B0604020202020204" pitchFamily="34" charset="0"/>
              <a:buChar char="•"/>
            </a:pPr>
            <a:r>
              <a:rPr lang="en-US" sz="2400" b="1" dirty="0"/>
              <a:t>What is Graph ML, vs traditional ML: </a:t>
            </a:r>
          </a:p>
          <a:p>
            <a:pPr marL="285750" indent="-285750">
              <a:buFont typeface="Arial" panose="020B0604020202020204" pitchFamily="34" charset="0"/>
              <a:buChar char="•"/>
            </a:pPr>
            <a:r>
              <a:rPr lang="en-US" sz="2400" b="1" dirty="0"/>
              <a:t>What can Graph ML used for ?</a:t>
            </a:r>
          </a:p>
          <a:p>
            <a:pPr marL="742950" lvl="1" indent="-285750">
              <a:buFont typeface="Arial" panose="020B0604020202020204" pitchFamily="34" charset="0"/>
              <a:buChar char="•"/>
            </a:pPr>
            <a:r>
              <a:rPr lang="en-US" sz="2400" dirty="0"/>
              <a:t>Node Classification</a:t>
            </a:r>
          </a:p>
          <a:p>
            <a:pPr marL="742950" lvl="1" indent="-285750">
              <a:buFont typeface="Arial" panose="020B0604020202020204" pitchFamily="34" charset="0"/>
              <a:buChar char="•"/>
            </a:pPr>
            <a:r>
              <a:rPr lang="en-US" altLang="zh-CN" sz="2400" dirty="0"/>
              <a:t>Link Prediction</a:t>
            </a:r>
          </a:p>
          <a:p>
            <a:pPr marL="742950" lvl="1" indent="-285750">
              <a:buFont typeface="Arial" panose="020B0604020202020204" pitchFamily="34" charset="0"/>
              <a:buChar char="•"/>
            </a:pPr>
            <a:r>
              <a:rPr lang="en-US" altLang="zh-CN" sz="2400" dirty="0"/>
              <a:t>Community Detection</a:t>
            </a:r>
          </a:p>
          <a:p>
            <a:pPr marL="742950" lvl="1" indent="-285750">
              <a:buFont typeface="Arial" panose="020B0604020202020204" pitchFamily="34" charset="0"/>
              <a:buChar char="•"/>
            </a:pPr>
            <a:r>
              <a:rPr lang="en-US" altLang="zh-CN" sz="2400" dirty="0"/>
              <a:t>Network Similarity</a:t>
            </a:r>
          </a:p>
          <a:p>
            <a:pPr marL="285750" indent="-285750">
              <a:buFont typeface="Arial" panose="020B0604020202020204" pitchFamily="34" charset="0"/>
              <a:buChar char="•"/>
            </a:pPr>
            <a:r>
              <a:rPr lang="en-US" sz="2400" b="1" dirty="0"/>
              <a:t>Why is it widely adopted in anti-fraud ?</a:t>
            </a:r>
          </a:p>
          <a:p>
            <a:pPr marL="285750" indent="-285750">
              <a:buFont typeface="Arial" panose="020B0604020202020204" pitchFamily="34" charset="0"/>
              <a:buChar char="•"/>
            </a:pPr>
            <a:r>
              <a:rPr lang="en-US" sz="2400" b="1" dirty="0"/>
              <a:t>Technical Demonstration</a:t>
            </a:r>
          </a:p>
          <a:p>
            <a:pPr marL="742950" lvl="1" indent="-285750">
              <a:buFont typeface="Arial" panose="020B0604020202020204" pitchFamily="34" charset="0"/>
              <a:buChar char="•"/>
            </a:pPr>
            <a:r>
              <a:rPr lang="en-US" sz="2400" dirty="0"/>
              <a:t>Graph Representation</a:t>
            </a:r>
          </a:p>
          <a:p>
            <a:pPr marL="742950" lvl="1" indent="-285750">
              <a:buFont typeface="Arial" panose="020B0604020202020204" pitchFamily="34" charset="0"/>
              <a:buChar char="•"/>
            </a:pPr>
            <a:r>
              <a:rPr lang="en-US" sz="2400" dirty="0"/>
              <a:t>Node Classification</a:t>
            </a:r>
          </a:p>
          <a:p>
            <a:pPr marL="742950" lvl="1" indent="-285750">
              <a:buFont typeface="Arial" panose="020B0604020202020204" pitchFamily="34" charset="0"/>
              <a:buChar char="•"/>
            </a:pPr>
            <a:r>
              <a:rPr lang="en-US" sz="2400" dirty="0"/>
              <a:t>Industrial Example</a:t>
            </a:r>
          </a:p>
          <a:p>
            <a:pPr marL="285750" indent="-285750">
              <a:buFont typeface="Arial" panose="020B0604020202020204" pitchFamily="34" charset="0"/>
              <a:buChar char="•"/>
            </a:pPr>
            <a:r>
              <a:rPr lang="en-US" sz="2400" b="1" dirty="0"/>
              <a:t>Challenges</a:t>
            </a:r>
          </a:p>
        </p:txBody>
      </p:sp>
    </p:spTree>
    <p:extLst>
      <p:ext uri="{BB962C8B-B14F-4D97-AF65-F5344CB8AC3E}">
        <p14:creationId xmlns:p14="http://schemas.microsoft.com/office/powerpoint/2010/main" val="2075014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E00B79B-5398-444F-B031-422338053843}"/>
              </a:ext>
            </a:extLst>
          </p:cNvPr>
          <p:cNvSpPr txBox="1"/>
          <p:nvPr/>
        </p:nvSpPr>
        <p:spPr>
          <a:xfrm>
            <a:off x="812800" y="822036"/>
            <a:ext cx="4539063" cy="1015663"/>
          </a:xfrm>
          <a:prstGeom prst="rect">
            <a:avLst/>
          </a:prstGeom>
          <a:noFill/>
        </p:spPr>
        <p:txBody>
          <a:bodyPr wrap="none" rtlCol="0">
            <a:spAutoFit/>
          </a:bodyPr>
          <a:lstStyle/>
          <a:p>
            <a:r>
              <a:rPr lang="en-US" sz="6000" dirty="0">
                <a:solidFill>
                  <a:schemeClr val="bg1"/>
                </a:solidFill>
              </a:rPr>
              <a:t>NLP Overview</a:t>
            </a:r>
          </a:p>
        </p:txBody>
      </p:sp>
      <p:sp>
        <p:nvSpPr>
          <p:cNvPr id="3" name="文本框 2">
            <a:extLst>
              <a:ext uri="{FF2B5EF4-FFF2-40B4-BE49-F238E27FC236}">
                <a16:creationId xmlns:a16="http://schemas.microsoft.com/office/drawing/2014/main" id="{E43CB8E3-028A-4C35-BBFD-F57B834530BA}"/>
              </a:ext>
            </a:extLst>
          </p:cNvPr>
          <p:cNvSpPr txBox="1"/>
          <p:nvPr/>
        </p:nvSpPr>
        <p:spPr>
          <a:xfrm>
            <a:off x="3740727" y="2983345"/>
            <a:ext cx="184731" cy="369332"/>
          </a:xfrm>
          <a:prstGeom prst="rect">
            <a:avLst/>
          </a:prstGeom>
          <a:noFill/>
        </p:spPr>
        <p:txBody>
          <a:bodyPr wrap="none" rtlCol="0">
            <a:spAutoFit/>
          </a:bodyPr>
          <a:lstStyle/>
          <a:p>
            <a:endParaRPr lang="en-US" dirty="0"/>
          </a:p>
        </p:txBody>
      </p:sp>
      <p:sp>
        <p:nvSpPr>
          <p:cNvPr id="4" name="文本框 3">
            <a:extLst>
              <a:ext uri="{FF2B5EF4-FFF2-40B4-BE49-F238E27FC236}">
                <a16:creationId xmlns:a16="http://schemas.microsoft.com/office/drawing/2014/main" id="{10071C29-9512-4BBC-AD03-1BB04FDBBEC7}"/>
              </a:ext>
            </a:extLst>
          </p:cNvPr>
          <p:cNvSpPr txBox="1"/>
          <p:nvPr/>
        </p:nvSpPr>
        <p:spPr>
          <a:xfrm>
            <a:off x="452387" y="498870"/>
            <a:ext cx="5823284" cy="646331"/>
          </a:xfrm>
          <a:prstGeom prst="rect">
            <a:avLst/>
          </a:prstGeom>
          <a:noFill/>
        </p:spPr>
        <p:txBody>
          <a:bodyPr wrap="square" rtlCol="0">
            <a:spAutoFit/>
          </a:bodyPr>
          <a:lstStyle/>
          <a:p>
            <a:r>
              <a:rPr lang="en-US" sz="3600" dirty="0">
                <a:solidFill>
                  <a:srgbClr val="004785"/>
                </a:solidFill>
              </a:rPr>
              <a:t>Graph ML For Anti-Fraud</a:t>
            </a:r>
          </a:p>
        </p:txBody>
      </p:sp>
      <p:sp>
        <p:nvSpPr>
          <p:cNvPr id="5" name="文本框 4">
            <a:extLst>
              <a:ext uri="{FF2B5EF4-FFF2-40B4-BE49-F238E27FC236}">
                <a16:creationId xmlns:a16="http://schemas.microsoft.com/office/drawing/2014/main" id="{FE1AC1C3-5804-40AC-92CF-98AC4A4E5D6B}"/>
              </a:ext>
            </a:extLst>
          </p:cNvPr>
          <p:cNvSpPr txBox="1"/>
          <p:nvPr/>
        </p:nvSpPr>
        <p:spPr>
          <a:xfrm>
            <a:off x="452387" y="1459851"/>
            <a:ext cx="9029941"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Graph Definition: </a:t>
            </a:r>
          </a:p>
          <a:p>
            <a:endParaRPr lang="en-US" sz="2400" dirty="0"/>
          </a:p>
        </p:txBody>
      </p:sp>
      <p:sp>
        <p:nvSpPr>
          <p:cNvPr id="7" name="文本框 6">
            <a:extLst>
              <a:ext uri="{FF2B5EF4-FFF2-40B4-BE49-F238E27FC236}">
                <a16:creationId xmlns:a16="http://schemas.microsoft.com/office/drawing/2014/main" id="{A9213E00-E886-4C4E-8225-5C2317F8F089}"/>
              </a:ext>
            </a:extLst>
          </p:cNvPr>
          <p:cNvSpPr txBox="1"/>
          <p:nvPr/>
        </p:nvSpPr>
        <p:spPr>
          <a:xfrm>
            <a:off x="694503" y="1961368"/>
            <a:ext cx="3938457" cy="3598184"/>
          </a:xfrm>
          <a:prstGeom prst="rect">
            <a:avLst/>
          </a:prstGeom>
          <a:noFill/>
        </p:spPr>
        <p:txBody>
          <a:bodyPr wrap="square">
            <a:spAutoFit/>
          </a:bodyPr>
          <a:lstStyle/>
          <a:p>
            <a:r>
              <a:rPr lang="en-US" sz="1400" b="1" dirty="0"/>
              <a:t>Graph is a structure composed of nodes and edges.</a:t>
            </a:r>
          </a:p>
          <a:p>
            <a:r>
              <a:rPr lang="en-US" sz="1400" dirty="0"/>
              <a:t>1) Nodes are usually entities. For example, people, institutions, cells, and commodities can all be used as a node.</a:t>
            </a:r>
          </a:p>
          <a:p>
            <a:r>
              <a:rPr lang="en-US" sz="1400" dirty="0"/>
              <a:t>2) An edge represents the connection relationship between nodes. For example, in a social network, a person is one of the nodes, and an edge between two nodes indicates that the two people may be friends or share the same article.</a:t>
            </a:r>
          </a:p>
          <a:p>
            <a:r>
              <a:rPr lang="en-US" sz="1400" dirty="0"/>
              <a:t>3) The nodes in the graph can also have characteristics or attributes, such as nodes representing customers, whose attributes are usually age, gender, monthly consumption, etc., and nodes representing commodities, and their attributes are usually commodity types, brands, and prices.</a:t>
            </a:r>
          </a:p>
        </p:txBody>
      </p:sp>
      <p:pic>
        <p:nvPicPr>
          <p:cNvPr id="1026" name="Picture 2" descr="各种数据">
            <a:extLst>
              <a:ext uri="{FF2B5EF4-FFF2-40B4-BE49-F238E27FC236}">
                <a16:creationId xmlns:a16="http://schemas.microsoft.com/office/drawing/2014/main" id="{BC78D4DD-B737-4989-9BD9-9B538380B2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823" y="1756126"/>
            <a:ext cx="6994754" cy="3756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5860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E00B79B-5398-444F-B031-422338053843}"/>
              </a:ext>
            </a:extLst>
          </p:cNvPr>
          <p:cNvSpPr txBox="1"/>
          <p:nvPr/>
        </p:nvSpPr>
        <p:spPr>
          <a:xfrm>
            <a:off x="812800" y="822036"/>
            <a:ext cx="4539063" cy="1015663"/>
          </a:xfrm>
          <a:prstGeom prst="rect">
            <a:avLst/>
          </a:prstGeom>
          <a:noFill/>
        </p:spPr>
        <p:txBody>
          <a:bodyPr wrap="none" rtlCol="0">
            <a:spAutoFit/>
          </a:bodyPr>
          <a:lstStyle/>
          <a:p>
            <a:r>
              <a:rPr lang="en-US" sz="6000" dirty="0">
                <a:solidFill>
                  <a:schemeClr val="bg1"/>
                </a:solidFill>
              </a:rPr>
              <a:t>NLP Overview</a:t>
            </a:r>
          </a:p>
        </p:txBody>
      </p:sp>
      <p:sp>
        <p:nvSpPr>
          <p:cNvPr id="3" name="文本框 2">
            <a:extLst>
              <a:ext uri="{FF2B5EF4-FFF2-40B4-BE49-F238E27FC236}">
                <a16:creationId xmlns:a16="http://schemas.microsoft.com/office/drawing/2014/main" id="{E43CB8E3-028A-4C35-BBFD-F57B834530BA}"/>
              </a:ext>
            </a:extLst>
          </p:cNvPr>
          <p:cNvSpPr txBox="1"/>
          <p:nvPr/>
        </p:nvSpPr>
        <p:spPr>
          <a:xfrm>
            <a:off x="3740727" y="2983345"/>
            <a:ext cx="184731" cy="369332"/>
          </a:xfrm>
          <a:prstGeom prst="rect">
            <a:avLst/>
          </a:prstGeom>
          <a:noFill/>
        </p:spPr>
        <p:txBody>
          <a:bodyPr wrap="none" rtlCol="0">
            <a:spAutoFit/>
          </a:bodyPr>
          <a:lstStyle/>
          <a:p>
            <a:endParaRPr lang="en-US" dirty="0"/>
          </a:p>
        </p:txBody>
      </p:sp>
      <p:sp>
        <p:nvSpPr>
          <p:cNvPr id="4" name="文本框 3">
            <a:extLst>
              <a:ext uri="{FF2B5EF4-FFF2-40B4-BE49-F238E27FC236}">
                <a16:creationId xmlns:a16="http://schemas.microsoft.com/office/drawing/2014/main" id="{10071C29-9512-4BBC-AD03-1BB04FDBBEC7}"/>
              </a:ext>
            </a:extLst>
          </p:cNvPr>
          <p:cNvSpPr txBox="1"/>
          <p:nvPr/>
        </p:nvSpPr>
        <p:spPr>
          <a:xfrm>
            <a:off x="452386" y="498870"/>
            <a:ext cx="8350237" cy="646331"/>
          </a:xfrm>
          <a:prstGeom prst="rect">
            <a:avLst/>
          </a:prstGeom>
          <a:noFill/>
        </p:spPr>
        <p:txBody>
          <a:bodyPr wrap="square" rtlCol="0">
            <a:spAutoFit/>
          </a:bodyPr>
          <a:lstStyle/>
          <a:p>
            <a:r>
              <a:rPr lang="en-US" sz="3600" dirty="0">
                <a:solidFill>
                  <a:srgbClr val="004785"/>
                </a:solidFill>
              </a:rPr>
              <a:t>What is Graph ML, vs traditional ML</a:t>
            </a:r>
          </a:p>
        </p:txBody>
      </p:sp>
      <p:sp>
        <p:nvSpPr>
          <p:cNvPr id="5" name="文本框 4">
            <a:extLst>
              <a:ext uri="{FF2B5EF4-FFF2-40B4-BE49-F238E27FC236}">
                <a16:creationId xmlns:a16="http://schemas.microsoft.com/office/drawing/2014/main" id="{FE1AC1C3-5804-40AC-92CF-98AC4A4E5D6B}"/>
              </a:ext>
            </a:extLst>
          </p:cNvPr>
          <p:cNvSpPr txBox="1"/>
          <p:nvPr/>
        </p:nvSpPr>
        <p:spPr>
          <a:xfrm>
            <a:off x="452387" y="1459851"/>
            <a:ext cx="9029941"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Graph ML and  its specialties:</a:t>
            </a:r>
          </a:p>
          <a:p>
            <a:pPr marL="285750" indent="-285750">
              <a:buFont typeface="Arial" panose="020B0604020202020204" pitchFamily="34" charset="0"/>
              <a:buChar char="•"/>
            </a:pPr>
            <a:endParaRPr lang="en-US" sz="2400" dirty="0"/>
          </a:p>
          <a:p>
            <a:endParaRPr lang="en-US" sz="2400" dirty="0"/>
          </a:p>
        </p:txBody>
      </p:sp>
      <p:pic>
        <p:nvPicPr>
          <p:cNvPr id="2050" name="Picture 2" descr="Data Table">
            <a:extLst>
              <a:ext uri="{FF2B5EF4-FFF2-40B4-BE49-F238E27FC236}">
                <a16:creationId xmlns:a16="http://schemas.microsoft.com/office/drawing/2014/main" id="{77A87329-788E-48A0-9D31-AFF4A3F31F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305" y="3178400"/>
            <a:ext cx="1295400" cy="90810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achine Learning Icon In Two Color Design. Red And Black Style Elements  From Machine Learning Icons Collection. Creative Stock Vector -  Illustration of machine, black: 144659464">
            <a:extLst>
              <a:ext uri="{FF2B5EF4-FFF2-40B4-BE49-F238E27FC236}">
                <a16:creationId xmlns:a16="http://schemas.microsoft.com/office/drawing/2014/main" id="{9A6D544A-78D5-41A7-B0D0-544626D0A4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7471" y="2645661"/>
            <a:ext cx="1860871" cy="1860871"/>
          </a:xfrm>
          <a:prstGeom prst="rect">
            <a:avLst/>
          </a:prstGeom>
          <a:noFill/>
          <a:extLst>
            <a:ext uri="{909E8E84-426E-40DD-AFC4-6F175D3DCCD1}">
              <a14:hiddenFill xmlns:a14="http://schemas.microsoft.com/office/drawing/2010/main">
                <a:solidFill>
                  <a:srgbClr val="FFFFFF"/>
                </a:solidFill>
              </a14:hiddenFill>
            </a:ext>
          </a:extLst>
        </p:spPr>
      </p:pic>
      <p:sp>
        <p:nvSpPr>
          <p:cNvPr id="6" name="箭头: 右 5">
            <a:extLst>
              <a:ext uri="{FF2B5EF4-FFF2-40B4-BE49-F238E27FC236}">
                <a16:creationId xmlns:a16="http://schemas.microsoft.com/office/drawing/2014/main" id="{05E1F26D-0BD8-4D94-B74C-8B80F7411694}"/>
              </a:ext>
            </a:extLst>
          </p:cNvPr>
          <p:cNvSpPr/>
          <p:nvPr/>
        </p:nvSpPr>
        <p:spPr>
          <a:xfrm>
            <a:off x="2785564" y="3371462"/>
            <a:ext cx="658396" cy="260989"/>
          </a:xfrm>
          <a:prstGeom prst="right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2054" name="Picture 6" descr="Machine Learning Icons - Download Free Vector Icons | Noun Project">
            <a:extLst>
              <a:ext uri="{FF2B5EF4-FFF2-40B4-BE49-F238E27FC236}">
                <a16:creationId xmlns:a16="http://schemas.microsoft.com/office/drawing/2014/main" id="{8E72CE0D-9159-47E9-B8F3-EB939178FF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7305" y="4880943"/>
            <a:ext cx="1295400" cy="1295400"/>
          </a:xfrm>
          <a:prstGeom prst="rect">
            <a:avLst/>
          </a:prstGeom>
          <a:noFill/>
          <a:extLst>
            <a:ext uri="{909E8E84-426E-40DD-AFC4-6F175D3DCCD1}">
              <a14:hiddenFill xmlns:a14="http://schemas.microsoft.com/office/drawing/2010/main">
                <a:solidFill>
                  <a:srgbClr val="FFFFFF"/>
                </a:solidFill>
              </a14:hiddenFill>
            </a:ext>
          </a:extLst>
        </p:spPr>
      </p:pic>
      <p:sp>
        <p:nvSpPr>
          <p:cNvPr id="12" name="箭头: 右 11">
            <a:extLst>
              <a:ext uri="{FF2B5EF4-FFF2-40B4-BE49-F238E27FC236}">
                <a16:creationId xmlns:a16="http://schemas.microsoft.com/office/drawing/2014/main" id="{40B896C8-D87E-455D-969F-7233F86AB7F0}"/>
              </a:ext>
            </a:extLst>
          </p:cNvPr>
          <p:cNvSpPr/>
          <p:nvPr/>
        </p:nvSpPr>
        <p:spPr>
          <a:xfrm>
            <a:off x="2771048" y="5267654"/>
            <a:ext cx="658396" cy="260989"/>
          </a:xfrm>
          <a:prstGeom prst="right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3" name="Picture 2" descr="Data Table">
            <a:extLst>
              <a:ext uri="{FF2B5EF4-FFF2-40B4-BE49-F238E27FC236}">
                <a16:creationId xmlns:a16="http://schemas.microsoft.com/office/drawing/2014/main" id="{39C91E1F-B45F-4973-A48B-122F91E886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3093" y="4982716"/>
            <a:ext cx="1388386" cy="973286"/>
          </a:xfrm>
          <a:prstGeom prst="rect">
            <a:avLst/>
          </a:prstGeom>
          <a:noFill/>
          <a:extLst>
            <a:ext uri="{909E8E84-426E-40DD-AFC4-6F175D3DCCD1}">
              <a14:hiddenFill xmlns:a14="http://schemas.microsoft.com/office/drawing/2010/main">
                <a:solidFill>
                  <a:srgbClr val="FFFFFF"/>
                </a:solidFill>
              </a14:hiddenFill>
            </a:ext>
          </a:extLst>
        </p:spPr>
      </p:pic>
      <p:sp>
        <p:nvSpPr>
          <p:cNvPr id="15" name="箭头: 右 14">
            <a:extLst>
              <a:ext uri="{FF2B5EF4-FFF2-40B4-BE49-F238E27FC236}">
                <a16:creationId xmlns:a16="http://schemas.microsoft.com/office/drawing/2014/main" id="{4E8E783C-2036-4143-8931-1D13D9F9DB8D}"/>
              </a:ext>
            </a:extLst>
          </p:cNvPr>
          <p:cNvSpPr/>
          <p:nvPr/>
        </p:nvSpPr>
        <p:spPr>
          <a:xfrm>
            <a:off x="5639126" y="5279245"/>
            <a:ext cx="658396" cy="260989"/>
          </a:xfrm>
          <a:prstGeom prst="right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2056" name="Picture 8" descr="Deep Learning Icon - Download in Colored Outline Style">
            <a:extLst>
              <a:ext uri="{FF2B5EF4-FFF2-40B4-BE49-F238E27FC236}">
                <a16:creationId xmlns:a16="http://schemas.microsoft.com/office/drawing/2014/main" id="{010B00A5-CEA0-4519-9BDA-B1E5569228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60635" y="4880943"/>
            <a:ext cx="1295400" cy="1295400"/>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2EB8C9AC-83D3-4B58-8CB0-516E97FF1662}"/>
              </a:ext>
            </a:extLst>
          </p:cNvPr>
          <p:cNvSpPr txBox="1"/>
          <p:nvPr/>
        </p:nvSpPr>
        <p:spPr>
          <a:xfrm>
            <a:off x="740443" y="1931513"/>
            <a:ext cx="3938457" cy="523220"/>
          </a:xfrm>
          <a:prstGeom prst="rect">
            <a:avLst/>
          </a:prstGeom>
          <a:noFill/>
        </p:spPr>
        <p:txBody>
          <a:bodyPr wrap="square">
            <a:spAutoFit/>
          </a:bodyPr>
          <a:lstStyle/>
          <a:p>
            <a:pPr marL="342900" indent="-342900">
              <a:buAutoNum type="arabicParenR"/>
            </a:pPr>
            <a:r>
              <a:rPr lang="en-US" sz="1400" dirty="0"/>
              <a:t>Network Structure transformation</a:t>
            </a:r>
          </a:p>
          <a:p>
            <a:pPr marL="342900" indent="-342900">
              <a:buAutoNum type="arabicParenR"/>
            </a:pPr>
            <a:r>
              <a:rPr lang="en-US" sz="1400" dirty="0"/>
              <a:t>Customized Structure to capture the topology</a:t>
            </a:r>
          </a:p>
        </p:txBody>
      </p:sp>
    </p:spTree>
    <p:extLst>
      <p:ext uri="{BB962C8B-B14F-4D97-AF65-F5344CB8AC3E}">
        <p14:creationId xmlns:p14="http://schemas.microsoft.com/office/powerpoint/2010/main" val="1038796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E00B79B-5398-444F-B031-422338053843}"/>
              </a:ext>
            </a:extLst>
          </p:cNvPr>
          <p:cNvSpPr txBox="1"/>
          <p:nvPr/>
        </p:nvSpPr>
        <p:spPr>
          <a:xfrm>
            <a:off x="812800" y="822036"/>
            <a:ext cx="4539063" cy="1015663"/>
          </a:xfrm>
          <a:prstGeom prst="rect">
            <a:avLst/>
          </a:prstGeom>
          <a:noFill/>
        </p:spPr>
        <p:txBody>
          <a:bodyPr wrap="none" rtlCol="0">
            <a:spAutoFit/>
          </a:bodyPr>
          <a:lstStyle/>
          <a:p>
            <a:r>
              <a:rPr lang="en-US" sz="6000" dirty="0">
                <a:solidFill>
                  <a:schemeClr val="bg1"/>
                </a:solidFill>
              </a:rPr>
              <a:t>NLP Overview</a:t>
            </a:r>
          </a:p>
        </p:txBody>
      </p:sp>
      <p:sp>
        <p:nvSpPr>
          <p:cNvPr id="3" name="文本框 2">
            <a:extLst>
              <a:ext uri="{FF2B5EF4-FFF2-40B4-BE49-F238E27FC236}">
                <a16:creationId xmlns:a16="http://schemas.microsoft.com/office/drawing/2014/main" id="{E43CB8E3-028A-4C35-BBFD-F57B834530BA}"/>
              </a:ext>
            </a:extLst>
          </p:cNvPr>
          <p:cNvSpPr txBox="1"/>
          <p:nvPr/>
        </p:nvSpPr>
        <p:spPr>
          <a:xfrm>
            <a:off x="3740727" y="2983345"/>
            <a:ext cx="184731" cy="369332"/>
          </a:xfrm>
          <a:prstGeom prst="rect">
            <a:avLst/>
          </a:prstGeom>
          <a:noFill/>
        </p:spPr>
        <p:txBody>
          <a:bodyPr wrap="none" rtlCol="0">
            <a:spAutoFit/>
          </a:bodyPr>
          <a:lstStyle/>
          <a:p>
            <a:endParaRPr lang="en-US" dirty="0"/>
          </a:p>
        </p:txBody>
      </p:sp>
      <p:sp>
        <p:nvSpPr>
          <p:cNvPr id="4" name="文本框 3">
            <a:extLst>
              <a:ext uri="{FF2B5EF4-FFF2-40B4-BE49-F238E27FC236}">
                <a16:creationId xmlns:a16="http://schemas.microsoft.com/office/drawing/2014/main" id="{10071C29-9512-4BBC-AD03-1BB04FDBBEC7}"/>
              </a:ext>
            </a:extLst>
          </p:cNvPr>
          <p:cNvSpPr txBox="1"/>
          <p:nvPr/>
        </p:nvSpPr>
        <p:spPr>
          <a:xfrm>
            <a:off x="452386" y="498870"/>
            <a:ext cx="8350237" cy="646331"/>
          </a:xfrm>
          <a:prstGeom prst="rect">
            <a:avLst/>
          </a:prstGeom>
          <a:noFill/>
        </p:spPr>
        <p:txBody>
          <a:bodyPr wrap="square" rtlCol="0">
            <a:spAutoFit/>
          </a:bodyPr>
          <a:lstStyle/>
          <a:p>
            <a:r>
              <a:rPr lang="en-US" sz="3600" dirty="0">
                <a:solidFill>
                  <a:srgbClr val="004785"/>
                </a:solidFill>
              </a:rPr>
              <a:t>What can Graph ML </a:t>
            </a:r>
            <a:r>
              <a:rPr lang="en-US" altLang="zh-CN" sz="3600" dirty="0">
                <a:solidFill>
                  <a:srgbClr val="004785"/>
                </a:solidFill>
              </a:rPr>
              <a:t>be</a:t>
            </a:r>
            <a:r>
              <a:rPr lang="zh-CN" altLang="en-US" sz="3600" dirty="0">
                <a:solidFill>
                  <a:srgbClr val="004785"/>
                </a:solidFill>
              </a:rPr>
              <a:t> </a:t>
            </a:r>
            <a:r>
              <a:rPr lang="en-US" sz="3600" dirty="0">
                <a:solidFill>
                  <a:srgbClr val="004785"/>
                </a:solidFill>
              </a:rPr>
              <a:t>used for ?</a:t>
            </a:r>
          </a:p>
        </p:txBody>
      </p:sp>
      <p:sp>
        <p:nvSpPr>
          <p:cNvPr id="5" name="文本框 4">
            <a:extLst>
              <a:ext uri="{FF2B5EF4-FFF2-40B4-BE49-F238E27FC236}">
                <a16:creationId xmlns:a16="http://schemas.microsoft.com/office/drawing/2014/main" id="{FE1AC1C3-5804-40AC-92CF-98AC4A4E5D6B}"/>
              </a:ext>
            </a:extLst>
          </p:cNvPr>
          <p:cNvSpPr txBox="1"/>
          <p:nvPr/>
        </p:nvSpPr>
        <p:spPr>
          <a:xfrm>
            <a:off x="452386" y="1445332"/>
            <a:ext cx="9029941"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Graph ML Four Major Tasks:</a:t>
            </a:r>
          </a:p>
          <a:p>
            <a:pPr marL="285750" indent="-285750">
              <a:buFont typeface="Arial" panose="020B0604020202020204" pitchFamily="34" charset="0"/>
              <a:buChar char="•"/>
            </a:pPr>
            <a:endParaRPr lang="en-US" sz="2400" dirty="0"/>
          </a:p>
          <a:p>
            <a:endParaRPr lang="en-US" sz="2400" dirty="0"/>
          </a:p>
        </p:txBody>
      </p:sp>
      <p:sp>
        <p:nvSpPr>
          <p:cNvPr id="18" name="文本框 17">
            <a:extLst>
              <a:ext uri="{FF2B5EF4-FFF2-40B4-BE49-F238E27FC236}">
                <a16:creationId xmlns:a16="http://schemas.microsoft.com/office/drawing/2014/main" id="{31D7BEDF-15CA-43EE-A47D-9633367E29D6}"/>
              </a:ext>
            </a:extLst>
          </p:cNvPr>
          <p:cNvSpPr txBox="1"/>
          <p:nvPr/>
        </p:nvSpPr>
        <p:spPr>
          <a:xfrm>
            <a:off x="730504" y="1913773"/>
            <a:ext cx="11009109" cy="3108543"/>
          </a:xfrm>
          <a:prstGeom prst="rect">
            <a:avLst/>
          </a:prstGeom>
          <a:noFill/>
        </p:spPr>
        <p:txBody>
          <a:bodyPr wrap="square">
            <a:spAutoFit/>
          </a:bodyPr>
          <a:lstStyle/>
          <a:p>
            <a:r>
              <a:rPr lang="en-US" sz="1400" b="1" i="0" dirty="0">
                <a:solidFill>
                  <a:srgbClr val="000000"/>
                </a:solidFill>
                <a:effectLst/>
                <a:latin typeface="Roboto" panose="020B0604020202020204" pitchFamily="2" charset="0"/>
              </a:rPr>
              <a:t>Academia has been studying graph networks for more than ten years. Graph </a:t>
            </a:r>
            <a:r>
              <a:rPr lang="en-US" sz="1400" b="1" dirty="0">
                <a:solidFill>
                  <a:srgbClr val="000000"/>
                </a:solidFill>
                <a:latin typeface="Roboto" panose="020B0604020202020204" pitchFamily="2" charset="0"/>
              </a:rPr>
              <a:t>ML </a:t>
            </a:r>
            <a:r>
              <a:rPr lang="en-US" sz="1400" b="1" i="0" dirty="0">
                <a:solidFill>
                  <a:srgbClr val="000000"/>
                </a:solidFill>
                <a:effectLst/>
                <a:latin typeface="Roboto" panose="020B0604020202020204" pitchFamily="2" charset="0"/>
              </a:rPr>
              <a:t>mainly focuses on four types of graph network tasks:</a:t>
            </a:r>
          </a:p>
          <a:p>
            <a:endParaRPr lang="en-US" sz="1400" b="1" dirty="0">
              <a:solidFill>
                <a:srgbClr val="000000"/>
              </a:solidFill>
              <a:latin typeface="Roboto" panose="020B0604020202020204" pitchFamily="2" charset="0"/>
            </a:endParaRPr>
          </a:p>
          <a:p>
            <a:pPr marL="342900" indent="-342900">
              <a:buAutoNum type="arabicParenR"/>
            </a:pPr>
            <a:r>
              <a:rPr lang="en-US" sz="1400" dirty="0">
                <a:solidFill>
                  <a:srgbClr val="000000"/>
                </a:solidFill>
                <a:latin typeface="Roboto" panose="020B0604020202020204" pitchFamily="2" charset="0"/>
              </a:rPr>
              <a:t>Graph node classification: </a:t>
            </a:r>
          </a:p>
          <a:p>
            <a:pPr marL="800100" lvl="1" indent="-342900">
              <a:buFont typeface="+mj-lt"/>
              <a:buAutoNum type="alphaUcPeriod"/>
            </a:pPr>
            <a:r>
              <a:rPr lang="en-US" sz="1400" dirty="0">
                <a:solidFill>
                  <a:srgbClr val="000000"/>
                </a:solidFill>
                <a:latin typeface="Roboto" panose="020B0604020202020204" pitchFamily="2" charset="0"/>
              </a:rPr>
              <a:t>Elements preference prediction on social media</a:t>
            </a:r>
          </a:p>
          <a:p>
            <a:pPr marL="800100" lvl="1" indent="-342900">
              <a:buFont typeface="+mj-lt"/>
              <a:buAutoNum type="alphaUcPeriod"/>
            </a:pPr>
            <a:r>
              <a:rPr lang="en-US" sz="1400" dirty="0">
                <a:solidFill>
                  <a:srgbClr val="000000"/>
                </a:solidFill>
                <a:latin typeface="Roboto" panose="020B0604020202020204" pitchFamily="2" charset="0"/>
              </a:rPr>
              <a:t>Fraudster Identification among transaction.</a:t>
            </a:r>
          </a:p>
          <a:p>
            <a:pPr marL="342900" indent="-342900">
              <a:buAutoNum type="arabicParenR"/>
            </a:pPr>
            <a:r>
              <a:rPr lang="en-US" sz="1400" dirty="0">
                <a:solidFill>
                  <a:srgbClr val="000000"/>
                </a:solidFill>
                <a:latin typeface="Roboto" panose="020B0604020202020204" pitchFamily="2" charset="0"/>
              </a:rPr>
              <a:t>Graph Linkage prediction: </a:t>
            </a:r>
          </a:p>
          <a:p>
            <a:pPr marL="800100" lvl="1" indent="-342900">
              <a:buFont typeface="+mj-lt"/>
              <a:buAutoNum type="alphaUcPeriod"/>
            </a:pPr>
            <a:r>
              <a:rPr lang="en-US" sz="1400" dirty="0">
                <a:solidFill>
                  <a:srgbClr val="000000"/>
                </a:solidFill>
                <a:latin typeface="Roboto" panose="020B0604020202020204" pitchFamily="2" charset="0"/>
              </a:rPr>
              <a:t>Friend recommendation on social media </a:t>
            </a:r>
          </a:p>
          <a:p>
            <a:pPr marL="800100" lvl="1" indent="-342900">
              <a:buFont typeface="+mj-lt"/>
              <a:buAutoNum type="alphaUcPeriod"/>
            </a:pPr>
            <a:r>
              <a:rPr lang="en-US" altLang="zh-CN" sz="1400" dirty="0">
                <a:solidFill>
                  <a:srgbClr val="000000"/>
                </a:solidFill>
                <a:latin typeface="Roboto" panose="020B0604020202020204" pitchFamily="2" charset="0"/>
              </a:rPr>
              <a:t>Product Recommendation on e-commerce</a:t>
            </a:r>
            <a:endParaRPr lang="en-US" sz="1400" dirty="0">
              <a:solidFill>
                <a:srgbClr val="000000"/>
              </a:solidFill>
              <a:latin typeface="Roboto" panose="020B0604020202020204" pitchFamily="2" charset="0"/>
            </a:endParaRPr>
          </a:p>
          <a:p>
            <a:pPr marL="342900" indent="-342900">
              <a:buAutoNum type="arabicParenR"/>
            </a:pPr>
            <a:r>
              <a:rPr lang="en-US" sz="1400" dirty="0">
                <a:solidFill>
                  <a:srgbClr val="000000"/>
                </a:solidFill>
                <a:latin typeface="Roboto" panose="020B0604020202020204" pitchFamily="2" charset="0"/>
              </a:rPr>
              <a:t>Community discovery:</a:t>
            </a:r>
          </a:p>
          <a:p>
            <a:pPr marL="800100" lvl="1" indent="-342900">
              <a:buFont typeface="+mj-lt"/>
              <a:buAutoNum type="alphaUcPeriod"/>
            </a:pPr>
            <a:r>
              <a:rPr lang="en-US" sz="1400" dirty="0">
                <a:solidFill>
                  <a:srgbClr val="000000"/>
                </a:solidFill>
                <a:latin typeface="Roboto" panose="020B0604020202020204" pitchFamily="2" charset="0"/>
              </a:rPr>
              <a:t>Fraudulent Community detection</a:t>
            </a:r>
          </a:p>
          <a:p>
            <a:pPr marL="342900" indent="-342900">
              <a:buAutoNum type="arabicParenR"/>
            </a:pPr>
            <a:r>
              <a:rPr lang="en-US" sz="1400" dirty="0">
                <a:solidFill>
                  <a:srgbClr val="000000"/>
                </a:solidFill>
                <a:latin typeface="Roboto" panose="020B0604020202020204" pitchFamily="2" charset="0"/>
              </a:rPr>
              <a:t>Network similarity:</a:t>
            </a:r>
          </a:p>
          <a:p>
            <a:pPr marL="800100" lvl="1" indent="-342900">
              <a:buFont typeface="+mj-lt"/>
              <a:buAutoNum type="alphaUcPeriod"/>
            </a:pPr>
            <a:r>
              <a:rPr lang="en-US" sz="1400" dirty="0">
                <a:solidFill>
                  <a:srgbClr val="000000"/>
                </a:solidFill>
                <a:latin typeface="Roboto" panose="020B0604020202020204" pitchFamily="2" charset="0"/>
              </a:rPr>
              <a:t>Compare two complex protein structures</a:t>
            </a:r>
          </a:p>
          <a:p>
            <a:pPr marL="800100" lvl="1" indent="-342900">
              <a:buFont typeface="+mj-lt"/>
              <a:buAutoNum type="alphaUcPeriod"/>
            </a:pPr>
            <a:r>
              <a:rPr lang="en-US" sz="1400" dirty="0">
                <a:solidFill>
                  <a:srgbClr val="000000"/>
                </a:solidFill>
                <a:latin typeface="Roboto" panose="020B0604020202020204" pitchFamily="2" charset="0"/>
              </a:rPr>
              <a:t>Same Interested </a:t>
            </a:r>
            <a:r>
              <a:rPr lang="en-US" altLang="zh-CN" sz="1400" dirty="0">
                <a:solidFill>
                  <a:srgbClr val="000000"/>
                </a:solidFill>
                <a:latin typeface="Roboto" panose="020B0604020202020204" pitchFamily="2" charset="0"/>
              </a:rPr>
              <a:t>Group Identification</a:t>
            </a:r>
            <a:endParaRPr lang="en-US" sz="1400" dirty="0">
              <a:solidFill>
                <a:srgbClr val="000000"/>
              </a:solidFill>
              <a:latin typeface="Roboto" panose="020B0604020202020204" pitchFamily="2" charset="0"/>
            </a:endParaRPr>
          </a:p>
          <a:p>
            <a:pPr marL="342900" indent="-342900">
              <a:buAutoNum type="arabicParenR"/>
            </a:pPr>
            <a:endParaRPr lang="en-US" sz="1400" b="1" dirty="0"/>
          </a:p>
        </p:txBody>
      </p:sp>
      <p:pic>
        <p:nvPicPr>
          <p:cNvPr id="3074" name="Picture 2">
            <a:extLst>
              <a:ext uri="{FF2B5EF4-FFF2-40B4-BE49-F238E27FC236}">
                <a16:creationId xmlns:a16="http://schemas.microsoft.com/office/drawing/2014/main" id="{B06D2A31-E8E3-4CE6-8158-40C4871959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4597" y="2252935"/>
            <a:ext cx="4629907" cy="2645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814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E00B79B-5398-444F-B031-422338053843}"/>
              </a:ext>
            </a:extLst>
          </p:cNvPr>
          <p:cNvSpPr txBox="1"/>
          <p:nvPr/>
        </p:nvSpPr>
        <p:spPr>
          <a:xfrm>
            <a:off x="812800" y="822036"/>
            <a:ext cx="4539063" cy="1015663"/>
          </a:xfrm>
          <a:prstGeom prst="rect">
            <a:avLst/>
          </a:prstGeom>
          <a:noFill/>
        </p:spPr>
        <p:txBody>
          <a:bodyPr wrap="none" rtlCol="0">
            <a:spAutoFit/>
          </a:bodyPr>
          <a:lstStyle/>
          <a:p>
            <a:r>
              <a:rPr lang="en-US" sz="6000" dirty="0">
                <a:solidFill>
                  <a:schemeClr val="bg1"/>
                </a:solidFill>
              </a:rPr>
              <a:t>NLP Overview</a:t>
            </a:r>
          </a:p>
        </p:txBody>
      </p:sp>
      <p:sp>
        <p:nvSpPr>
          <p:cNvPr id="3" name="文本框 2">
            <a:extLst>
              <a:ext uri="{FF2B5EF4-FFF2-40B4-BE49-F238E27FC236}">
                <a16:creationId xmlns:a16="http://schemas.microsoft.com/office/drawing/2014/main" id="{E43CB8E3-028A-4C35-BBFD-F57B834530BA}"/>
              </a:ext>
            </a:extLst>
          </p:cNvPr>
          <p:cNvSpPr txBox="1"/>
          <p:nvPr/>
        </p:nvSpPr>
        <p:spPr>
          <a:xfrm>
            <a:off x="3740727" y="2983345"/>
            <a:ext cx="184731" cy="369332"/>
          </a:xfrm>
          <a:prstGeom prst="rect">
            <a:avLst/>
          </a:prstGeom>
          <a:noFill/>
        </p:spPr>
        <p:txBody>
          <a:bodyPr wrap="none" rtlCol="0">
            <a:spAutoFit/>
          </a:bodyPr>
          <a:lstStyle/>
          <a:p>
            <a:endParaRPr lang="en-US" dirty="0"/>
          </a:p>
        </p:txBody>
      </p:sp>
      <p:sp>
        <p:nvSpPr>
          <p:cNvPr id="4" name="文本框 3">
            <a:extLst>
              <a:ext uri="{FF2B5EF4-FFF2-40B4-BE49-F238E27FC236}">
                <a16:creationId xmlns:a16="http://schemas.microsoft.com/office/drawing/2014/main" id="{10071C29-9512-4BBC-AD03-1BB04FDBBEC7}"/>
              </a:ext>
            </a:extLst>
          </p:cNvPr>
          <p:cNvSpPr txBox="1"/>
          <p:nvPr/>
        </p:nvSpPr>
        <p:spPr>
          <a:xfrm>
            <a:off x="452386" y="498870"/>
            <a:ext cx="8350237" cy="646331"/>
          </a:xfrm>
          <a:prstGeom prst="rect">
            <a:avLst/>
          </a:prstGeom>
          <a:noFill/>
        </p:spPr>
        <p:txBody>
          <a:bodyPr wrap="square" rtlCol="0">
            <a:spAutoFit/>
          </a:bodyPr>
          <a:lstStyle/>
          <a:p>
            <a:r>
              <a:rPr lang="en-US" sz="3600" dirty="0">
                <a:solidFill>
                  <a:srgbClr val="004785"/>
                </a:solidFill>
              </a:rPr>
              <a:t>Technical Demonstrations</a:t>
            </a:r>
          </a:p>
        </p:txBody>
      </p:sp>
      <p:sp>
        <p:nvSpPr>
          <p:cNvPr id="5" name="文本框 4">
            <a:extLst>
              <a:ext uri="{FF2B5EF4-FFF2-40B4-BE49-F238E27FC236}">
                <a16:creationId xmlns:a16="http://schemas.microsoft.com/office/drawing/2014/main" id="{FE1AC1C3-5804-40AC-92CF-98AC4A4E5D6B}"/>
              </a:ext>
            </a:extLst>
          </p:cNvPr>
          <p:cNvSpPr txBox="1"/>
          <p:nvPr/>
        </p:nvSpPr>
        <p:spPr>
          <a:xfrm>
            <a:off x="452386" y="1445332"/>
            <a:ext cx="9029941"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Graph Representation:</a:t>
            </a:r>
          </a:p>
          <a:p>
            <a:pPr marL="285750" indent="-285750">
              <a:buFont typeface="Arial" panose="020B0604020202020204" pitchFamily="34" charset="0"/>
              <a:buChar char="•"/>
            </a:pPr>
            <a:endParaRPr lang="en-US" sz="2400" dirty="0"/>
          </a:p>
          <a:p>
            <a:endParaRPr lang="en-US" sz="2400" dirty="0"/>
          </a:p>
        </p:txBody>
      </p:sp>
      <p:sp>
        <p:nvSpPr>
          <p:cNvPr id="12" name="文本框 11">
            <a:extLst>
              <a:ext uri="{FF2B5EF4-FFF2-40B4-BE49-F238E27FC236}">
                <a16:creationId xmlns:a16="http://schemas.microsoft.com/office/drawing/2014/main" id="{998F4484-C3C2-4356-99DC-A2818369173C}"/>
              </a:ext>
            </a:extLst>
          </p:cNvPr>
          <p:cNvSpPr txBox="1"/>
          <p:nvPr/>
        </p:nvSpPr>
        <p:spPr>
          <a:xfrm>
            <a:off x="730504" y="1913773"/>
            <a:ext cx="11009109" cy="954107"/>
          </a:xfrm>
          <a:prstGeom prst="rect">
            <a:avLst/>
          </a:prstGeom>
          <a:noFill/>
        </p:spPr>
        <p:txBody>
          <a:bodyPr wrap="square">
            <a:spAutoFit/>
          </a:bodyPr>
          <a:lstStyle/>
          <a:p>
            <a:r>
              <a:rPr lang="en-US" sz="1400" b="1" dirty="0">
                <a:solidFill>
                  <a:srgbClr val="000000"/>
                </a:solidFill>
                <a:latin typeface="Roboto" panose="020B0604020202020204" pitchFamily="2" charset="0"/>
              </a:rPr>
              <a:t>Graph is an unstructured data. Usually, when we leverage unstructured data, we have to transformed it to be structured data.</a:t>
            </a:r>
            <a:endParaRPr lang="en-US" sz="1400" b="1" i="0" dirty="0">
              <a:solidFill>
                <a:srgbClr val="000000"/>
              </a:solidFill>
              <a:effectLst/>
              <a:latin typeface="Roboto" panose="020B0604020202020204" pitchFamily="2" charset="0"/>
            </a:endParaRPr>
          </a:p>
          <a:p>
            <a:endParaRPr lang="en-US" sz="1400" dirty="0">
              <a:solidFill>
                <a:srgbClr val="000000"/>
              </a:solidFill>
              <a:latin typeface="Roboto" panose="020B0604020202020204" pitchFamily="2" charset="0"/>
            </a:endParaRPr>
          </a:p>
          <a:p>
            <a:pPr marL="342900" indent="-342900">
              <a:buAutoNum type="arabicParenR"/>
            </a:pPr>
            <a:r>
              <a:rPr lang="en-US" sz="1400" dirty="0"/>
              <a:t>Adjacency Matrix</a:t>
            </a:r>
          </a:p>
          <a:p>
            <a:pPr marL="342900" indent="-342900">
              <a:buAutoNum type="arabicParenR"/>
            </a:pPr>
            <a:r>
              <a:rPr lang="en-US" sz="1400" dirty="0"/>
              <a:t>Node2Vec</a:t>
            </a:r>
          </a:p>
        </p:txBody>
      </p:sp>
      <p:pic>
        <p:nvPicPr>
          <p:cNvPr id="5122" name="Picture 2" descr="The adjacency matrix - Learning JavaScript Data Structures and Algorithms -  Third Edition [Book]">
            <a:extLst>
              <a:ext uri="{FF2B5EF4-FFF2-40B4-BE49-F238E27FC236}">
                <a16:creationId xmlns:a16="http://schemas.microsoft.com/office/drawing/2014/main" id="{FD24661C-EC9C-438C-8FDA-C5CB428CF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9913" y="3505324"/>
            <a:ext cx="4231949" cy="1948315"/>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39969722-6FF0-47FB-8FD5-6015675359B9}"/>
              </a:ext>
            </a:extLst>
          </p:cNvPr>
          <p:cNvSpPr txBox="1"/>
          <p:nvPr/>
        </p:nvSpPr>
        <p:spPr>
          <a:xfrm>
            <a:off x="2219325" y="5606286"/>
            <a:ext cx="6096000" cy="369332"/>
          </a:xfrm>
          <a:prstGeom prst="rect">
            <a:avLst/>
          </a:prstGeom>
          <a:noFill/>
        </p:spPr>
        <p:txBody>
          <a:bodyPr wrap="square">
            <a:spAutoFit/>
          </a:bodyPr>
          <a:lstStyle/>
          <a:p>
            <a:r>
              <a:rPr lang="en-US" sz="1800" dirty="0"/>
              <a:t>Adjacency Matrix</a:t>
            </a:r>
            <a:endParaRPr lang="en-US" dirty="0"/>
          </a:p>
        </p:txBody>
      </p:sp>
      <p:sp>
        <p:nvSpPr>
          <p:cNvPr id="19" name="文本框 18">
            <a:extLst>
              <a:ext uri="{FF2B5EF4-FFF2-40B4-BE49-F238E27FC236}">
                <a16:creationId xmlns:a16="http://schemas.microsoft.com/office/drawing/2014/main" id="{C56A73F9-7841-4534-A2EC-BD991EE0D8C3}"/>
              </a:ext>
            </a:extLst>
          </p:cNvPr>
          <p:cNvSpPr txBox="1"/>
          <p:nvPr/>
        </p:nvSpPr>
        <p:spPr>
          <a:xfrm>
            <a:off x="8210550" y="5720103"/>
            <a:ext cx="1876425" cy="369332"/>
          </a:xfrm>
          <a:prstGeom prst="rect">
            <a:avLst/>
          </a:prstGeom>
          <a:noFill/>
        </p:spPr>
        <p:txBody>
          <a:bodyPr wrap="square">
            <a:spAutoFit/>
          </a:bodyPr>
          <a:lstStyle/>
          <a:p>
            <a:r>
              <a:rPr lang="en-US" sz="1800" dirty="0"/>
              <a:t>Node2Vec</a:t>
            </a:r>
          </a:p>
        </p:txBody>
      </p:sp>
      <p:pic>
        <p:nvPicPr>
          <p:cNvPr id="5128" name="Picture 8" descr="node2vec: 图数据的嵌入方法_AI公园-CSDN博客">
            <a:extLst>
              <a:ext uri="{FF2B5EF4-FFF2-40B4-BE49-F238E27FC236}">
                <a16:creationId xmlns:a16="http://schemas.microsoft.com/office/drawing/2014/main" id="{F9730CF3-E7DC-4332-8612-8346E5569E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3710" y="3505324"/>
            <a:ext cx="5457825" cy="1713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5198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E00B79B-5398-444F-B031-422338053843}"/>
              </a:ext>
            </a:extLst>
          </p:cNvPr>
          <p:cNvSpPr txBox="1"/>
          <p:nvPr/>
        </p:nvSpPr>
        <p:spPr>
          <a:xfrm>
            <a:off x="812800" y="822036"/>
            <a:ext cx="4539063" cy="1015663"/>
          </a:xfrm>
          <a:prstGeom prst="rect">
            <a:avLst/>
          </a:prstGeom>
          <a:noFill/>
        </p:spPr>
        <p:txBody>
          <a:bodyPr wrap="none" rtlCol="0">
            <a:spAutoFit/>
          </a:bodyPr>
          <a:lstStyle/>
          <a:p>
            <a:r>
              <a:rPr lang="en-US" sz="6000" dirty="0">
                <a:solidFill>
                  <a:schemeClr val="bg1"/>
                </a:solidFill>
              </a:rPr>
              <a:t>NLP Overview</a:t>
            </a:r>
          </a:p>
        </p:txBody>
      </p:sp>
      <p:sp>
        <p:nvSpPr>
          <p:cNvPr id="3" name="文本框 2">
            <a:extLst>
              <a:ext uri="{FF2B5EF4-FFF2-40B4-BE49-F238E27FC236}">
                <a16:creationId xmlns:a16="http://schemas.microsoft.com/office/drawing/2014/main" id="{E43CB8E3-028A-4C35-BBFD-F57B834530BA}"/>
              </a:ext>
            </a:extLst>
          </p:cNvPr>
          <p:cNvSpPr txBox="1"/>
          <p:nvPr/>
        </p:nvSpPr>
        <p:spPr>
          <a:xfrm>
            <a:off x="3740727" y="2983345"/>
            <a:ext cx="184731" cy="369332"/>
          </a:xfrm>
          <a:prstGeom prst="rect">
            <a:avLst/>
          </a:prstGeom>
          <a:noFill/>
        </p:spPr>
        <p:txBody>
          <a:bodyPr wrap="none" rtlCol="0">
            <a:spAutoFit/>
          </a:bodyPr>
          <a:lstStyle/>
          <a:p>
            <a:endParaRPr lang="en-US" dirty="0"/>
          </a:p>
        </p:txBody>
      </p:sp>
      <p:sp>
        <p:nvSpPr>
          <p:cNvPr id="4" name="文本框 3">
            <a:extLst>
              <a:ext uri="{FF2B5EF4-FFF2-40B4-BE49-F238E27FC236}">
                <a16:creationId xmlns:a16="http://schemas.microsoft.com/office/drawing/2014/main" id="{10071C29-9512-4BBC-AD03-1BB04FDBBEC7}"/>
              </a:ext>
            </a:extLst>
          </p:cNvPr>
          <p:cNvSpPr txBox="1"/>
          <p:nvPr/>
        </p:nvSpPr>
        <p:spPr>
          <a:xfrm>
            <a:off x="452386" y="498870"/>
            <a:ext cx="8350237" cy="646331"/>
          </a:xfrm>
          <a:prstGeom prst="rect">
            <a:avLst/>
          </a:prstGeom>
          <a:noFill/>
        </p:spPr>
        <p:txBody>
          <a:bodyPr wrap="square" rtlCol="0">
            <a:spAutoFit/>
          </a:bodyPr>
          <a:lstStyle/>
          <a:p>
            <a:r>
              <a:rPr lang="en-US" sz="3600" dirty="0">
                <a:solidFill>
                  <a:srgbClr val="004785"/>
                </a:solidFill>
              </a:rPr>
              <a:t>Technical Demonstrations</a:t>
            </a:r>
          </a:p>
        </p:txBody>
      </p:sp>
      <p:sp>
        <p:nvSpPr>
          <p:cNvPr id="5" name="文本框 4">
            <a:extLst>
              <a:ext uri="{FF2B5EF4-FFF2-40B4-BE49-F238E27FC236}">
                <a16:creationId xmlns:a16="http://schemas.microsoft.com/office/drawing/2014/main" id="{FE1AC1C3-5804-40AC-92CF-98AC4A4E5D6B}"/>
              </a:ext>
            </a:extLst>
          </p:cNvPr>
          <p:cNvSpPr txBox="1"/>
          <p:nvPr/>
        </p:nvSpPr>
        <p:spPr>
          <a:xfrm>
            <a:off x="452386" y="1445332"/>
            <a:ext cx="9029941"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Graph Representation: Node2Vec</a:t>
            </a:r>
          </a:p>
          <a:p>
            <a:pPr marL="285750" indent="-285750">
              <a:buFont typeface="Arial" panose="020B0604020202020204" pitchFamily="34" charset="0"/>
              <a:buChar char="•"/>
            </a:pPr>
            <a:endParaRPr lang="en-US" sz="2400" dirty="0"/>
          </a:p>
          <a:p>
            <a:endParaRPr lang="en-US" sz="2400" dirty="0"/>
          </a:p>
        </p:txBody>
      </p:sp>
      <p:sp>
        <p:nvSpPr>
          <p:cNvPr id="12" name="文本框 11">
            <a:extLst>
              <a:ext uri="{FF2B5EF4-FFF2-40B4-BE49-F238E27FC236}">
                <a16:creationId xmlns:a16="http://schemas.microsoft.com/office/drawing/2014/main" id="{998F4484-C3C2-4356-99DC-A2818369173C}"/>
              </a:ext>
            </a:extLst>
          </p:cNvPr>
          <p:cNvSpPr txBox="1"/>
          <p:nvPr/>
        </p:nvSpPr>
        <p:spPr>
          <a:xfrm>
            <a:off x="730504" y="1913773"/>
            <a:ext cx="11009109" cy="523220"/>
          </a:xfrm>
          <a:prstGeom prst="rect">
            <a:avLst/>
          </a:prstGeom>
          <a:noFill/>
        </p:spPr>
        <p:txBody>
          <a:bodyPr wrap="square">
            <a:spAutoFit/>
          </a:bodyPr>
          <a:lstStyle/>
          <a:p>
            <a:r>
              <a:rPr lang="en-US" sz="1400" b="1" dirty="0">
                <a:solidFill>
                  <a:srgbClr val="000000"/>
                </a:solidFill>
                <a:latin typeface="Roboto" panose="020B0604020202020204" pitchFamily="2" charset="0"/>
              </a:rPr>
              <a:t>Graph is an unstructured data. Usually, when we leverage unstructured data, we have to transformed it to be structured data.</a:t>
            </a:r>
            <a:endParaRPr lang="en-US" sz="1400" dirty="0">
              <a:solidFill>
                <a:srgbClr val="000000"/>
              </a:solidFill>
              <a:latin typeface="Roboto" panose="020B0604020202020204" pitchFamily="2" charset="0"/>
            </a:endParaRPr>
          </a:p>
          <a:p>
            <a:r>
              <a:rPr lang="en-US" sz="1400" dirty="0"/>
              <a:t>Demonstration: </a:t>
            </a:r>
            <a:r>
              <a:rPr lang="en-US" sz="1400" b="1" dirty="0"/>
              <a:t>DeepWalk</a:t>
            </a:r>
            <a:r>
              <a:rPr lang="en-US" sz="1400" dirty="0"/>
              <a:t> to convert a graph network to be a dense matrices using Skim-Gram</a:t>
            </a:r>
          </a:p>
        </p:txBody>
      </p:sp>
      <p:pic>
        <p:nvPicPr>
          <p:cNvPr id="8" name="图片 7">
            <a:extLst>
              <a:ext uri="{FF2B5EF4-FFF2-40B4-BE49-F238E27FC236}">
                <a16:creationId xmlns:a16="http://schemas.microsoft.com/office/drawing/2014/main" id="{B275F501-385A-42DB-90BA-EBE8A3C735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8368" y="2523953"/>
            <a:ext cx="7040626" cy="4087758"/>
          </a:xfrm>
          <a:prstGeom prst="rect">
            <a:avLst/>
          </a:prstGeom>
        </p:spPr>
      </p:pic>
    </p:spTree>
    <p:extLst>
      <p:ext uri="{BB962C8B-B14F-4D97-AF65-F5344CB8AC3E}">
        <p14:creationId xmlns:p14="http://schemas.microsoft.com/office/powerpoint/2010/main" val="3788754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E00B79B-5398-444F-B031-422338053843}"/>
              </a:ext>
            </a:extLst>
          </p:cNvPr>
          <p:cNvSpPr txBox="1"/>
          <p:nvPr/>
        </p:nvSpPr>
        <p:spPr>
          <a:xfrm>
            <a:off x="812800" y="822036"/>
            <a:ext cx="4539063" cy="1015663"/>
          </a:xfrm>
          <a:prstGeom prst="rect">
            <a:avLst/>
          </a:prstGeom>
          <a:noFill/>
        </p:spPr>
        <p:txBody>
          <a:bodyPr wrap="none" rtlCol="0">
            <a:spAutoFit/>
          </a:bodyPr>
          <a:lstStyle/>
          <a:p>
            <a:r>
              <a:rPr lang="en-US" sz="6000" dirty="0">
                <a:solidFill>
                  <a:schemeClr val="bg1"/>
                </a:solidFill>
              </a:rPr>
              <a:t>NLP Overview</a:t>
            </a:r>
          </a:p>
        </p:txBody>
      </p:sp>
      <p:sp>
        <p:nvSpPr>
          <p:cNvPr id="3" name="文本框 2">
            <a:extLst>
              <a:ext uri="{FF2B5EF4-FFF2-40B4-BE49-F238E27FC236}">
                <a16:creationId xmlns:a16="http://schemas.microsoft.com/office/drawing/2014/main" id="{E43CB8E3-028A-4C35-BBFD-F57B834530BA}"/>
              </a:ext>
            </a:extLst>
          </p:cNvPr>
          <p:cNvSpPr txBox="1"/>
          <p:nvPr/>
        </p:nvSpPr>
        <p:spPr>
          <a:xfrm>
            <a:off x="3740727" y="2983345"/>
            <a:ext cx="184731" cy="369332"/>
          </a:xfrm>
          <a:prstGeom prst="rect">
            <a:avLst/>
          </a:prstGeom>
          <a:noFill/>
        </p:spPr>
        <p:txBody>
          <a:bodyPr wrap="none" rtlCol="0">
            <a:spAutoFit/>
          </a:bodyPr>
          <a:lstStyle/>
          <a:p>
            <a:endParaRPr lang="en-US" dirty="0"/>
          </a:p>
        </p:txBody>
      </p:sp>
      <p:sp>
        <p:nvSpPr>
          <p:cNvPr id="4" name="文本框 3">
            <a:extLst>
              <a:ext uri="{FF2B5EF4-FFF2-40B4-BE49-F238E27FC236}">
                <a16:creationId xmlns:a16="http://schemas.microsoft.com/office/drawing/2014/main" id="{10071C29-9512-4BBC-AD03-1BB04FDBBEC7}"/>
              </a:ext>
            </a:extLst>
          </p:cNvPr>
          <p:cNvSpPr txBox="1"/>
          <p:nvPr/>
        </p:nvSpPr>
        <p:spPr>
          <a:xfrm>
            <a:off x="452386" y="498870"/>
            <a:ext cx="8350237" cy="646331"/>
          </a:xfrm>
          <a:prstGeom prst="rect">
            <a:avLst/>
          </a:prstGeom>
          <a:noFill/>
        </p:spPr>
        <p:txBody>
          <a:bodyPr wrap="square" rtlCol="0">
            <a:spAutoFit/>
          </a:bodyPr>
          <a:lstStyle/>
          <a:p>
            <a:r>
              <a:rPr lang="en-US" sz="3600" dirty="0">
                <a:solidFill>
                  <a:srgbClr val="004785"/>
                </a:solidFill>
              </a:rPr>
              <a:t>Technical Demonstrations</a:t>
            </a:r>
          </a:p>
        </p:txBody>
      </p:sp>
      <p:sp>
        <p:nvSpPr>
          <p:cNvPr id="5" name="文本框 4">
            <a:extLst>
              <a:ext uri="{FF2B5EF4-FFF2-40B4-BE49-F238E27FC236}">
                <a16:creationId xmlns:a16="http://schemas.microsoft.com/office/drawing/2014/main" id="{FE1AC1C3-5804-40AC-92CF-98AC4A4E5D6B}"/>
              </a:ext>
            </a:extLst>
          </p:cNvPr>
          <p:cNvSpPr txBox="1"/>
          <p:nvPr/>
        </p:nvSpPr>
        <p:spPr>
          <a:xfrm>
            <a:off x="452386" y="1445332"/>
            <a:ext cx="9029941" cy="1200329"/>
          </a:xfrm>
          <a:prstGeom prst="rect">
            <a:avLst/>
          </a:prstGeom>
          <a:noFill/>
        </p:spPr>
        <p:txBody>
          <a:bodyPr wrap="square" rtlCol="0">
            <a:spAutoFit/>
          </a:bodyPr>
          <a:lstStyle/>
          <a:p>
            <a:pPr marL="285750" indent="-285750">
              <a:buFont typeface="Arial" panose="020B0604020202020204" pitchFamily="34" charset="0"/>
              <a:buChar char="•"/>
            </a:pPr>
            <a:r>
              <a:rPr lang="en-US" altLang="zh-CN" sz="2400" dirty="0"/>
              <a:t>Node</a:t>
            </a:r>
            <a:r>
              <a:rPr lang="en-US" sz="2400" dirty="0"/>
              <a:t> </a:t>
            </a:r>
            <a:r>
              <a:rPr lang="en-US" altLang="zh-CN" sz="2400" dirty="0"/>
              <a:t>Classification</a:t>
            </a:r>
            <a:r>
              <a:rPr lang="en-US" sz="2400" dirty="0"/>
              <a:t>:</a:t>
            </a:r>
          </a:p>
          <a:p>
            <a:pPr marL="285750" indent="-285750">
              <a:buFont typeface="Arial" panose="020B0604020202020204" pitchFamily="34" charset="0"/>
              <a:buChar char="•"/>
            </a:pPr>
            <a:endParaRPr lang="en-US" sz="2400" dirty="0"/>
          </a:p>
          <a:p>
            <a:endParaRPr lang="en-US" sz="2400" dirty="0"/>
          </a:p>
        </p:txBody>
      </p:sp>
      <p:sp>
        <p:nvSpPr>
          <p:cNvPr id="12" name="文本框 11">
            <a:extLst>
              <a:ext uri="{FF2B5EF4-FFF2-40B4-BE49-F238E27FC236}">
                <a16:creationId xmlns:a16="http://schemas.microsoft.com/office/drawing/2014/main" id="{998F4484-C3C2-4356-99DC-A2818369173C}"/>
              </a:ext>
            </a:extLst>
          </p:cNvPr>
          <p:cNvSpPr txBox="1"/>
          <p:nvPr/>
        </p:nvSpPr>
        <p:spPr>
          <a:xfrm>
            <a:off x="730504" y="1913773"/>
            <a:ext cx="11009109" cy="954107"/>
          </a:xfrm>
          <a:prstGeom prst="rect">
            <a:avLst/>
          </a:prstGeom>
          <a:noFill/>
        </p:spPr>
        <p:txBody>
          <a:bodyPr wrap="square">
            <a:spAutoFit/>
          </a:bodyPr>
          <a:lstStyle/>
          <a:p>
            <a:r>
              <a:rPr lang="en-US" altLang="zh-CN" sz="1400" b="1" dirty="0">
                <a:solidFill>
                  <a:srgbClr val="000000"/>
                </a:solidFill>
                <a:latin typeface="Roboto" panose="020B0604020202020204" pitchFamily="2" charset="0"/>
              </a:rPr>
              <a:t>Capturing network information to classify which category the node belong to</a:t>
            </a:r>
            <a:r>
              <a:rPr lang="en-US" sz="1400" b="1" dirty="0">
                <a:solidFill>
                  <a:srgbClr val="000000"/>
                </a:solidFill>
                <a:latin typeface="Roboto" panose="020B0604020202020204" pitchFamily="2" charset="0"/>
              </a:rPr>
              <a:t>.</a:t>
            </a:r>
            <a:endParaRPr lang="en-US" sz="1400" dirty="0"/>
          </a:p>
          <a:p>
            <a:r>
              <a:rPr lang="en-US" sz="1400" dirty="0"/>
              <a:t>Two Technical Implementations: </a:t>
            </a:r>
          </a:p>
          <a:p>
            <a:pPr marL="342900" indent="-342900">
              <a:buAutoNum type="arabicParenR"/>
            </a:pPr>
            <a:r>
              <a:rPr lang="en-US" sz="1400" dirty="0"/>
              <a:t>node2vec: Feature Provision for downstream ML</a:t>
            </a:r>
          </a:p>
          <a:p>
            <a:pPr marL="342900" indent="-342900">
              <a:buAutoNum type="arabicParenR"/>
            </a:pPr>
            <a:r>
              <a:rPr lang="en-US" sz="1400" dirty="0"/>
              <a:t>neighborhood aggregation: End-to-End </a:t>
            </a:r>
            <a:r>
              <a:rPr lang="en-US" altLang="zh-CN" sz="1400" dirty="0"/>
              <a:t>ML such GNN, GraphSage etc.</a:t>
            </a:r>
            <a:endParaRPr lang="en-US" sz="1400" dirty="0"/>
          </a:p>
        </p:txBody>
      </p:sp>
      <p:pic>
        <p:nvPicPr>
          <p:cNvPr id="10" name="图片 9">
            <a:extLst>
              <a:ext uri="{FF2B5EF4-FFF2-40B4-BE49-F238E27FC236}">
                <a16:creationId xmlns:a16="http://schemas.microsoft.com/office/drawing/2014/main" id="{1184CD95-4FD5-46E7-9DB3-5C298F5C97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504" y="3538902"/>
            <a:ext cx="1445821" cy="1006911"/>
          </a:xfrm>
          <a:prstGeom prst="rect">
            <a:avLst/>
          </a:prstGeom>
        </p:spPr>
      </p:pic>
      <p:pic>
        <p:nvPicPr>
          <p:cNvPr id="13" name="图片 12">
            <a:extLst>
              <a:ext uri="{FF2B5EF4-FFF2-40B4-BE49-F238E27FC236}">
                <a16:creationId xmlns:a16="http://schemas.microsoft.com/office/drawing/2014/main" id="{55F24A43-1B1A-4417-A7D2-7E14EA8B28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5395" y="3468142"/>
            <a:ext cx="635129" cy="1172148"/>
          </a:xfrm>
          <a:prstGeom prst="rect">
            <a:avLst/>
          </a:prstGeom>
        </p:spPr>
      </p:pic>
      <p:sp>
        <p:nvSpPr>
          <p:cNvPr id="15" name="箭头: 右 14">
            <a:extLst>
              <a:ext uri="{FF2B5EF4-FFF2-40B4-BE49-F238E27FC236}">
                <a16:creationId xmlns:a16="http://schemas.microsoft.com/office/drawing/2014/main" id="{F6F9247F-87C3-4178-B369-46CA747BBABD}"/>
              </a:ext>
            </a:extLst>
          </p:cNvPr>
          <p:cNvSpPr/>
          <p:nvPr/>
        </p:nvSpPr>
        <p:spPr>
          <a:xfrm>
            <a:off x="2431307" y="4042358"/>
            <a:ext cx="140226" cy="141466"/>
          </a:xfrm>
          <a:prstGeom prst="right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加号 10">
            <a:extLst>
              <a:ext uri="{FF2B5EF4-FFF2-40B4-BE49-F238E27FC236}">
                <a16:creationId xmlns:a16="http://schemas.microsoft.com/office/drawing/2014/main" id="{0047B10C-EFEC-4F86-A186-D5730D723298}"/>
              </a:ext>
            </a:extLst>
          </p:cNvPr>
          <p:cNvSpPr/>
          <p:nvPr/>
        </p:nvSpPr>
        <p:spPr>
          <a:xfrm>
            <a:off x="2994617" y="4772112"/>
            <a:ext cx="196684" cy="181689"/>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文本框 21">
            <a:extLst>
              <a:ext uri="{FF2B5EF4-FFF2-40B4-BE49-F238E27FC236}">
                <a16:creationId xmlns:a16="http://schemas.microsoft.com/office/drawing/2014/main" id="{AFC9087E-D147-429F-A218-78A5907BBEEA}"/>
              </a:ext>
            </a:extLst>
          </p:cNvPr>
          <p:cNvSpPr txBox="1"/>
          <p:nvPr/>
        </p:nvSpPr>
        <p:spPr>
          <a:xfrm>
            <a:off x="2451592" y="3203827"/>
            <a:ext cx="1289135" cy="261610"/>
          </a:xfrm>
          <a:prstGeom prst="rect">
            <a:avLst/>
          </a:prstGeom>
          <a:noFill/>
        </p:spPr>
        <p:txBody>
          <a:bodyPr wrap="none" rtlCol="0">
            <a:spAutoFit/>
          </a:bodyPr>
          <a:lstStyle/>
          <a:p>
            <a:r>
              <a:rPr lang="en-US" altLang="zh-CN" sz="1100" dirty="0"/>
              <a:t>N</a:t>
            </a:r>
            <a:r>
              <a:rPr lang="en-US" sz="1100" dirty="0"/>
              <a:t>ode2vec </a:t>
            </a:r>
            <a:r>
              <a:rPr lang="en-US" altLang="zh-CN" sz="1100" dirty="0"/>
              <a:t>Features</a:t>
            </a:r>
            <a:endParaRPr lang="en-US" sz="1100" dirty="0"/>
          </a:p>
        </p:txBody>
      </p:sp>
      <p:sp>
        <p:nvSpPr>
          <p:cNvPr id="24" name="文本框 23">
            <a:extLst>
              <a:ext uri="{FF2B5EF4-FFF2-40B4-BE49-F238E27FC236}">
                <a16:creationId xmlns:a16="http://schemas.microsoft.com/office/drawing/2014/main" id="{1E6BB0D4-9C4A-4C2D-8FED-4E68DF2382E5}"/>
              </a:ext>
            </a:extLst>
          </p:cNvPr>
          <p:cNvSpPr txBox="1"/>
          <p:nvPr/>
        </p:nvSpPr>
        <p:spPr>
          <a:xfrm>
            <a:off x="2303637" y="5107042"/>
            <a:ext cx="2064989" cy="261610"/>
          </a:xfrm>
          <a:prstGeom prst="rect">
            <a:avLst/>
          </a:prstGeom>
          <a:noFill/>
        </p:spPr>
        <p:txBody>
          <a:bodyPr wrap="none" rtlCol="0">
            <a:spAutoFit/>
          </a:bodyPr>
          <a:lstStyle/>
          <a:p>
            <a:r>
              <a:rPr lang="en-US" altLang="zh-CN" sz="1100" dirty="0"/>
              <a:t>Static Features: Age, gender etc.</a:t>
            </a:r>
            <a:r>
              <a:rPr lang="zh-CN" altLang="en-US" sz="1100" dirty="0"/>
              <a:t> </a:t>
            </a:r>
            <a:endParaRPr lang="en-US" sz="1100" dirty="0"/>
          </a:p>
        </p:txBody>
      </p:sp>
      <p:pic>
        <p:nvPicPr>
          <p:cNvPr id="25" name="图片 24">
            <a:extLst>
              <a:ext uri="{FF2B5EF4-FFF2-40B4-BE49-F238E27FC236}">
                <a16:creationId xmlns:a16="http://schemas.microsoft.com/office/drawing/2014/main" id="{BC82100E-5C8D-44DE-A43F-001898A003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0370" y="5368652"/>
            <a:ext cx="635129" cy="1172148"/>
          </a:xfrm>
          <a:prstGeom prst="rect">
            <a:avLst/>
          </a:prstGeom>
        </p:spPr>
      </p:pic>
      <p:pic>
        <p:nvPicPr>
          <p:cNvPr id="7170" name="Picture 2">
            <a:extLst>
              <a:ext uri="{FF2B5EF4-FFF2-40B4-BE49-F238E27FC236}">
                <a16:creationId xmlns:a16="http://schemas.microsoft.com/office/drawing/2014/main" id="{295CCC8E-271A-4DE5-BB49-B4935389EF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3453" y="4268460"/>
            <a:ext cx="4687592" cy="2450000"/>
          </a:xfrm>
          <a:prstGeom prst="rect">
            <a:avLst/>
          </a:prstGeom>
          <a:noFill/>
          <a:extLst>
            <a:ext uri="{909E8E84-426E-40DD-AFC4-6F175D3DCCD1}">
              <a14:hiddenFill xmlns:a14="http://schemas.microsoft.com/office/drawing/2010/main">
                <a:solidFill>
                  <a:srgbClr val="FFFFFF"/>
                </a:solidFill>
              </a14:hiddenFill>
            </a:ext>
          </a:extLst>
        </p:spPr>
      </p:pic>
      <p:pic>
        <p:nvPicPr>
          <p:cNvPr id="27" name="图片 26">
            <a:extLst>
              <a:ext uri="{FF2B5EF4-FFF2-40B4-BE49-F238E27FC236}">
                <a16:creationId xmlns:a16="http://schemas.microsoft.com/office/drawing/2014/main" id="{2EC1A812-E410-4E3C-8DF8-D14CE9BAAC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92963" y="207584"/>
            <a:ext cx="3732238" cy="3820401"/>
          </a:xfrm>
          <a:prstGeom prst="rect">
            <a:avLst/>
          </a:prstGeom>
        </p:spPr>
      </p:pic>
      <p:sp>
        <p:nvSpPr>
          <p:cNvPr id="29" name="箭头: 右 28">
            <a:extLst>
              <a:ext uri="{FF2B5EF4-FFF2-40B4-BE49-F238E27FC236}">
                <a16:creationId xmlns:a16="http://schemas.microsoft.com/office/drawing/2014/main" id="{E3A6213E-63EA-4FD8-9659-04A8522C7AE0}"/>
              </a:ext>
            </a:extLst>
          </p:cNvPr>
          <p:cNvSpPr/>
          <p:nvPr/>
        </p:nvSpPr>
        <p:spPr>
          <a:xfrm>
            <a:off x="4441297" y="4707528"/>
            <a:ext cx="140226" cy="141466"/>
          </a:xfrm>
          <a:prstGeom prst="right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026" name="Picture 2" descr="Xgboost vs Lightgbm | MLJAR">
            <a:extLst>
              <a:ext uri="{FF2B5EF4-FFF2-40B4-BE49-F238E27FC236}">
                <a16:creationId xmlns:a16="http://schemas.microsoft.com/office/drawing/2014/main" id="{F533E861-B96A-440D-9DE1-EDACD3B90C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21334" y="4513929"/>
            <a:ext cx="1274666" cy="516366"/>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7ACAC58B-798F-4A36-A01B-4A9C065F01A0}"/>
              </a:ext>
            </a:extLst>
          </p:cNvPr>
          <p:cNvSpPr/>
          <p:nvPr/>
        </p:nvSpPr>
        <p:spPr>
          <a:xfrm>
            <a:off x="730504" y="2983345"/>
            <a:ext cx="5898537" cy="373511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矩形 18">
            <a:extLst>
              <a:ext uri="{FF2B5EF4-FFF2-40B4-BE49-F238E27FC236}">
                <a16:creationId xmlns:a16="http://schemas.microsoft.com/office/drawing/2014/main" id="{2F966084-5C82-4F12-BFBC-31CEF14867B4}"/>
              </a:ext>
            </a:extLst>
          </p:cNvPr>
          <p:cNvSpPr/>
          <p:nvPr/>
        </p:nvSpPr>
        <p:spPr>
          <a:xfrm>
            <a:off x="7011395" y="207584"/>
            <a:ext cx="5052021" cy="651087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7708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E00B79B-5398-444F-B031-422338053843}"/>
              </a:ext>
            </a:extLst>
          </p:cNvPr>
          <p:cNvSpPr txBox="1"/>
          <p:nvPr/>
        </p:nvSpPr>
        <p:spPr>
          <a:xfrm>
            <a:off x="812800" y="822036"/>
            <a:ext cx="4539063" cy="1015663"/>
          </a:xfrm>
          <a:prstGeom prst="rect">
            <a:avLst/>
          </a:prstGeom>
          <a:noFill/>
        </p:spPr>
        <p:txBody>
          <a:bodyPr wrap="none" rtlCol="0">
            <a:spAutoFit/>
          </a:bodyPr>
          <a:lstStyle/>
          <a:p>
            <a:r>
              <a:rPr lang="en-US" sz="6000" dirty="0">
                <a:solidFill>
                  <a:schemeClr val="bg1"/>
                </a:solidFill>
              </a:rPr>
              <a:t>NLP Overview</a:t>
            </a:r>
          </a:p>
        </p:txBody>
      </p:sp>
      <p:sp>
        <p:nvSpPr>
          <p:cNvPr id="3" name="文本框 2">
            <a:extLst>
              <a:ext uri="{FF2B5EF4-FFF2-40B4-BE49-F238E27FC236}">
                <a16:creationId xmlns:a16="http://schemas.microsoft.com/office/drawing/2014/main" id="{E43CB8E3-028A-4C35-BBFD-F57B834530BA}"/>
              </a:ext>
            </a:extLst>
          </p:cNvPr>
          <p:cNvSpPr txBox="1"/>
          <p:nvPr/>
        </p:nvSpPr>
        <p:spPr>
          <a:xfrm>
            <a:off x="3740727" y="2983345"/>
            <a:ext cx="184731" cy="369332"/>
          </a:xfrm>
          <a:prstGeom prst="rect">
            <a:avLst/>
          </a:prstGeom>
          <a:noFill/>
        </p:spPr>
        <p:txBody>
          <a:bodyPr wrap="none" rtlCol="0">
            <a:spAutoFit/>
          </a:bodyPr>
          <a:lstStyle/>
          <a:p>
            <a:endParaRPr lang="en-US" dirty="0"/>
          </a:p>
        </p:txBody>
      </p:sp>
      <p:sp>
        <p:nvSpPr>
          <p:cNvPr id="4" name="文本框 3">
            <a:extLst>
              <a:ext uri="{FF2B5EF4-FFF2-40B4-BE49-F238E27FC236}">
                <a16:creationId xmlns:a16="http://schemas.microsoft.com/office/drawing/2014/main" id="{10071C29-9512-4BBC-AD03-1BB04FDBBEC7}"/>
              </a:ext>
            </a:extLst>
          </p:cNvPr>
          <p:cNvSpPr txBox="1"/>
          <p:nvPr/>
        </p:nvSpPr>
        <p:spPr>
          <a:xfrm>
            <a:off x="452386" y="498870"/>
            <a:ext cx="8350237" cy="646331"/>
          </a:xfrm>
          <a:prstGeom prst="rect">
            <a:avLst/>
          </a:prstGeom>
          <a:noFill/>
        </p:spPr>
        <p:txBody>
          <a:bodyPr wrap="square" rtlCol="0">
            <a:spAutoFit/>
          </a:bodyPr>
          <a:lstStyle/>
          <a:p>
            <a:r>
              <a:rPr lang="en-US" sz="3600" dirty="0">
                <a:solidFill>
                  <a:srgbClr val="004785"/>
                </a:solidFill>
              </a:rPr>
              <a:t>Technical Demonstrations</a:t>
            </a:r>
          </a:p>
        </p:txBody>
      </p:sp>
      <p:sp>
        <p:nvSpPr>
          <p:cNvPr id="5" name="文本框 4">
            <a:extLst>
              <a:ext uri="{FF2B5EF4-FFF2-40B4-BE49-F238E27FC236}">
                <a16:creationId xmlns:a16="http://schemas.microsoft.com/office/drawing/2014/main" id="{FE1AC1C3-5804-40AC-92CF-98AC4A4E5D6B}"/>
              </a:ext>
            </a:extLst>
          </p:cNvPr>
          <p:cNvSpPr txBox="1"/>
          <p:nvPr/>
        </p:nvSpPr>
        <p:spPr>
          <a:xfrm>
            <a:off x="452386" y="1445332"/>
            <a:ext cx="9029941"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Industrial Example: WeChat Fraudulent Detection</a:t>
            </a:r>
          </a:p>
          <a:p>
            <a:pPr marL="285750" indent="-285750">
              <a:buFont typeface="Arial" panose="020B0604020202020204" pitchFamily="34" charset="0"/>
              <a:buChar char="•"/>
            </a:pPr>
            <a:endParaRPr lang="en-US" sz="2400" dirty="0"/>
          </a:p>
          <a:p>
            <a:endParaRPr lang="en-US" sz="2400" dirty="0"/>
          </a:p>
        </p:txBody>
      </p:sp>
      <p:sp>
        <p:nvSpPr>
          <p:cNvPr id="12" name="文本框 11">
            <a:extLst>
              <a:ext uri="{FF2B5EF4-FFF2-40B4-BE49-F238E27FC236}">
                <a16:creationId xmlns:a16="http://schemas.microsoft.com/office/drawing/2014/main" id="{998F4484-C3C2-4356-99DC-A2818369173C}"/>
              </a:ext>
            </a:extLst>
          </p:cNvPr>
          <p:cNvSpPr txBox="1"/>
          <p:nvPr/>
        </p:nvSpPr>
        <p:spPr>
          <a:xfrm>
            <a:off x="730504" y="1913773"/>
            <a:ext cx="11009109" cy="1169551"/>
          </a:xfrm>
          <a:prstGeom prst="rect">
            <a:avLst/>
          </a:prstGeom>
          <a:noFill/>
        </p:spPr>
        <p:txBody>
          <a:bodyPr wrap="square">
            <a:spAutoFit/>
          </a:bodyPr>
          <a:lstStyle/>
          <a:p>
            <a:r>
              <a:rPr lang="en-US" sz="1400" b="1" dirty="0">
                <a:solidFill>
                  <a:srgbClr val="000000"/>
                </a:solidFill>
                <a:latin typeface="Roboto" panose="020B0604020202020204" pitchFamily="2" charset="0"/>
              </a:rPr>
              <a:t>Usually, a fraudulent community does have only on device and each device login several accounts.</a:t>
            </a:r>
            <a:endParaRPr lang="en-US" sz="1400" dirty="0"/>
          </a:p>
          <a:p>
            <a:r>
              <a:rPr lang="en-US" sz="1400" dirty="0"/>
              <a:t>This is example of how  to transform a devices-and-accounts (heterogeneous) graph to be to construct an isomorphic graph, to detect fraud by using GraphSage: </a:t>
            </a:r>
          </a:p>
          <a:p>
            <a:pPr marL="342900" indent="-342900">
              <a:buAutoNum type="arabicParenR"/>
            </a:pPr>
            <a:r>
              <a:rPr lang="en-US" sz="1400" dirty="0"/>
              <a:t>heterogeneous graph – different entities</a:t>
            </a:r>
          </a:p>
          <a:p>
            <a:pPr marL="342900" indent="-342900">
              <a:buAutoNum type="arabicParenR"/>
            </a:pPr>
            <a:r>
              <a:rPr lang="en-US" sz="1400" dirty="0"/>
              <a:t>isomorphic – same entities</a:t>
            </a:r>
          </a:p>
        </p:txBody>
      </p:sp>
      <p:pic>
        <p:nvPicPr>
          <p:cNvPr id="9" name="图片 8">
            <a:extLst>
              <a:ext uri="{FF2B5EF4-FFF2-40B4-BE49-F238E27FC236}">
                <a16:creationId xmlns:a16="http://schemas.microsoft.com/office/drawing/2014/main" id="{417C7AEA-CFCE-4457-A537-CEBCF550E8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9604" y="2995601"/>
            <a:ext cx="8830907" cy="3067478"/>
          </a:xfrm>
          <a:prstGeom prst="rect">
            <a:avLst/>
          </a:prstGeom>
        </p:spPr>
      </p:pic>
      <p:sp>
        <p:nvSpPr>
          <p:cNvPr id="10" name="文本框 9">
            <a:extLst>
              <a:ext uri="{FF2B5EF4-FFF2-40B4-BE49-F238E27FC236}">
                <a16:creationId xmlns:a16="http://schemas.microsoft.com/office/drawing/2014/main" id="{78269D35-95F7-462B-ABA3-C4C15E2AC7A2}"/>
              </a:ext>
            </a:extLst>
          </p:cNvPr>
          <p:cNvSpPr txBox="1"/>
          <p:nvPr/>
        </p:nvSpPr>
        <p:spPr>
          <a:xfrm>
            <a:off x="730504" y="5343466"/>
            <a:ext cx="6096000" cy="1384995"/>
          </a:xfrm>
          <a:prstGeom prst="rect">
            <a:avLst/>
          </a:prstGeom>
          <a:noFill/>
        </p:spPr>
        <p:txBody>
          <a:bodyPr wrap="square">
            <a:spAutoFit/>
          </a:bodyPr>
          <a:lstStyle/>
          <a:p>
            <a:r>
              <a:rPr lang="en-US" sz="1400" dirty="0"/>
              <a:t>If only GNN is used to run supervised learning, the AUC is 0.92, which is slightly worse than 0.93 obtained by XGBoost running portrait features, but if the individual Embedding learned by GNN is spliced to the original portrait features, then run XGBoost , AUC will be greatly increased to 0.97, which also shows that network structure features can bring significant gains to the original individual portrait features. </a:t>
            </a:r>
          </a:p>
        </p:txBody>
      </p:sp>
    </p:spTree>
    <p:extLst>
      <p:ext uri="{BB962C8B-B14F-4D97-AF65-F5344CB8AC3E}">
        <p14:creationId xmlns:p14="http://schemas.microsoft.com/office/powerpoint/2010/main" val="3041357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E00B79B-5398-444F-B031-422338053843}"/>
              </a:ext>
            </a:extLst>
          </p:cNvPr>
          <p:cNvSpPr txBox="1"/>
          <p:nvPr/>
        </p:nvSpPr>
        <p:spPr>
          <a:xfrm>
            <a:off x="812800" y="822036"/>
            <a:ext cx="4539063" cy="1015663"/>
          </a:xfrm>
          <a:prstGeom prst="rect">
            <a:avLst/>
          </a:prstGeom>
          <a:noFill/>
        </p:spPr>
        <p:txBody>
          <a:bodyPr wrap="none" rtlCol="0">
            <a:spAutoFit/>
          </a:bodyPr>
          <a:lstStyle/>
          <a:p>
            <a:r>
              <a:rPr lang="en-US" sz="6000" dirty="0">
                <a:solidFill>
                  <a:schemeClr val="bg1"/>
                </a:solidFill>
              </a:rPr>
              <a:t>NLP Overview</a:t>
            </a:r>
          </a:p>
        </p:txBody>
      </p:sp>
      <p:sp>
        <p:nvSpPr>
          <p:cNvPr id="3" name="文本框 2">
            <a:extLst>
              <a:ext uri="{FF2B5EF4-FFF2-40B4-BE49-F238E27FC236}">
                <a16:creationId xmlns:a16="http://schemas.microsoft.com/office/drawing/2014/main" id="{E43CB8E3-028A-4C35-BBFD-F57B834530BA}"/>
              </a:ext>
            </a:extLst>
          </p:cNvPr>
          <p:cNvSpPr txBox="1"/>
          <p:nvPr/>
        </p:nvSpPr>
        <p:spPr>
          <a:xfrm>
            <a:off x="3740727" y="2983345"/>
            <a:ext cx="184731" cy="369332"/>
          </a:xfrm>
          <a:prstGeom prst="rect">
            <a:avLst/>
          </a:prstGeom>
          <a:noFill/>
        </p:spPr>
        <p:txBody>
          <a:bodyPr wrap="none" rtlCol="0">
            <a:spAutoFit/>
          </a:bodyPr>
          <a:lstStyle/>
          <a:p>
            <a:endParaRPr lang="en-US" dirty="0"/>
          </a:p>
        </p:txBody>
      </p:sp>
      <p:sp>
        <p:nvSpPr>
          <p:cNvPr id="4" name="文本框 3">
            <a:extLst>
              <a:ext uri="{FF2B5EF4-FFF2-40B4-BE49-F238E27FC236}">
                <a16:creationId xmlns:a16="http://schemas.microsoft.com/office/drawing/2014/main" id="{10071C29-9512-4BBC-AD03-1BB04FDBBEC7}"/>
              </a:ext>
            </a:extLst>
          </p:cNvPr>
          <p:cNvSpPr txBox="1"/>
          <p:nvPr/>
        </p:nvSpPr>
        <p:spPr>
          <a:xfrm>
            <a:off x="452386" y="498870"/>
            <a:ext cx="8350237" cy="646331"/>
          </a:xfrm>
          <a:prstGeom prst="rect">
            <a:avLst/>
          </a:prstGeom>
          <a:noFill/>
        </p:spPr>
        <p:txBody>
          <a:bodyPr wrap="square" rtlCol="0">
            <a:spAutoFit/>
          </a:bodyPr>
          <a:lstStyle/>
          <a:p>
            <a:r>
              <a:rPr lang="en-US" sz="3600" dirty="0">
                <a:solidFill>
                  <a:srgbClr val="004785"/>
                </a:solidFill>
              </a:rPr>
              <a:t>Challenges</a:t>
            </a:r>
          </a:p>
        </p:txBody>
      </p:sp>
      <p:sp>
        <p:nvSpPr>
          <p:cNvPr id="5" name="文本框 4">
            <a:extLst>
              <a:ext uri="{FF2B5EF4-FFF2-40B4-BE49-F238E27FC236}">
                <a16:creationId xmlns:a16="http://schemas.microsoft.com/office/drawing/2014/main" id="{FE1AC1C3-5804-40AC-92CF-98AC4A4E5D6B}"/>
              </a:ext>
            </a:extLst>
          </p:cNvPr>
          <p:cNvSpPr txBox="1"/>
          <p:nvPr/>
        </p:nvSpPr>
        <p:spPr>
          <a:xfrm>
            <a:off x="452386" y="1445332"/>
            <a:ext cx="10770785" cy="2000548"/>
          </a:xfrm>
          <a:prstGeom prst="rect">
            <a:avLst/>
          </a:prstGeom>
          <a:noFill/>
        </p:spPr>
        <p:txBody>
          <a:bodyPr wrap="square" rtlCol="0">
            <a:spAutoFit/>
          </a:bodyPr>
          <a:lstStyle/>
          <a:p>
            <a:pPr marL="285750" indent="-285750">
              <a:buFont typeface="Arial" panose="020B0604020202020204" pitchFamily="34" charset="0"/>
              <a:buChar char="•"/>
            </a:pPr>
            <a:r>
              <a:rPr lang="en-US" sz="2400" dirty="0"/>
              <a:t>Positive labels are almost rare:</a:t>
            </a:r>
          </a:p>
          <a:p>
            <a:pPr marL="742950" lvl="1" indent="-285750">
              <a:buFont typeface="Arial" panose="020B0604020202020204" pitchFamily="34" charset="0"/>
              <a:buChar char="•"/>
            </a:pPr>
            <a:r>
              <a:rPr lang="en-US" sz="1400" dirty="0"/>
              <a:t>The number of historical fraudsters usually is not sufficient for ML to recognize the pattern but data augment may help.</a:t>
            </a:r>
            <a:r>
              <a:rPr lang="en-US" sz="2400" dirty="0"/>
              <a:t>	</a:t>
            </a:r>
          </a:p>
          <a:p>
            <a:pPr marL="285750" indent="-285750">
              <a:buFont typeface="Arial" panose="020B0604020202020204" pitchFamily="34" charset="0"/>
              <a:buChar char="•"/>
            </a:pPr>
            <a:r>
              <a:rPr lang="en-US" sz="2400" dirty="0"/>
              <a:t>Demanding for historical data storage</a:t>
            </a:r>
          </a:p>
          <a:p>
            <a:pPr marL="742950" lvl="1" indent="-285750">
              <a:buFont typeface="Arial" panose="020B0604020202020204" pitchFamily="34" charset="0"/>
              <a:buChar char="•"/>
            </a:pPr>
            <a:r>
              <a:rPr lang="en-US" sz="1400" dirty="0"/>
              <a:t>It’s demanding to capture the historical data, such as fraudster social network images.</a:t>
            </a:r>
          </a:p>
          <a:p>
            <a:pPr marL="285750" indent="-285750">
              <a:buFont typeface="Arial" panose="020B0604020202020204" pitchFamily="34" charset="0"/>
              <a:buChar char="•"/>
            </a:pPr>
            <a:r>
              <a:rPr lang="en-US" sz="2400" dirty="0"/>
              <a:t>Intensive and complex computation to transforms graph data to structure data</a:t>
            </a:r>
          </a:p>
          <a:p>
            <a:pPr marL="742950" lvl="1" indent="-285750">
              <a:buFont typeface="Arial" panose="020B0604020202020204" pitchFamily="34" charset="0"/>
              <a:buChar char="•"/>
            </a:pPr>
            <a:r>
              <a:rPr lang="en-US" sz="1400" dirty="0"/>
              <a:t>Origin data could be very huge with a long-time span. </a:t>
            </a:r>
            <a:endParaRPr lang="en-US" sz="2400" dirty="0"/>
          </a:p>
        </p:txBody>
      </p:sp>
    </p:spTree>
    <p:extLst>
      <p:ext uri="{BB962C8B-B14F-4D97-AF65-F5344CB8AC3E}">
        <p14:creationId xmlns:p14="http://schemas.microsoft.com/office/powerpoint/2010/main" val="410970571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TM10001105[[fn=裁剪]]</Template>
  <TotalTime>866</TotalTime>
  <Words>1433</Words>
  <Application>Microsoft Office PowerPoint</Application>
  <PresentationFormat>宽屏</PresentationFormat>
  <Paragraphs>112</Paragraphs>
  <Slides>10</Slides>
  <Notes>8</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vt:i4>
      </vt:variant>
    </vt:vector>
  </HeadingPairs>
  <TitlesOfParts>
    <vt:vector size="15" baseType="lpstr">
      <vt:lpstr>Arial</vt:lpstr>
      <vt:lpstr>Calibri</vt:lpstr>
      <vt:lpstr>Calibri Light</vt:lpstr>
      <vt:lpstr>Roboto</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林 杰钦</dc:creator>
  <cp:lastModifiedBy>林 杰钦</cp:lastModifiedBy>
  <cp:revision>43</cp:revision>
  <dcterms:created xsi:type="dcterms:W3CDTF">2020-05-16T09:01:53Z</dcterms:created>
  <dcterms:modified xsi:type="dcterms:W3CDTF">2021-09-05T15:13:39Z</dcterms:modified>
</cp:coreProperties>
</file>